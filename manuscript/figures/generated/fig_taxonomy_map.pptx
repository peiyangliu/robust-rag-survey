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1049" cy="2540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831" y="61102"/>
            <a:ext cx="1352974" cy="1379160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31" y="87289"/>
            <a:ext cx="1352974" cy="104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E75B6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31" y="192035"/>
            <a:ext cx="1352974" cy="7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0">
                <a:solidFill>
                  <a:srgbClr val="7F7F7F"/>
                </a:solidFill>
                <a:latin typeface="Arial"/>
              </a:rPr>
              <a:t>what enters the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840" y="296781"/>
            <a:ext cx="1256956" cy="328787"/>
          </a:xfrm>
          <a:prstGeom prst="rect">
            <a:avLst/>
          </a:prstGeom>
          <a:solidFill>
            <a:srgbClr val="DEEBF7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0213" y="322968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Noisy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213" y="401528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irrelevant passages, hard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negatives, missing positives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840" y="660484"/>
            <a:ext cx="1256956" cy="328787"/>
          </a:xfrm>
          <a:prstGeom prst="rect">
            <a:avLst/>
          </a:prstGeom>
          <a:solidFill>
            <a:srgbClr val="DEEBF7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213" y="686671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Distraction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213" y="765230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negative marginal utility;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ordering, long-context erosion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840" y="1024187"/>
            <a:ext cx="1256956" cy="328787"/>
          </a:xfrm>
          <a:prstGeom prst="rect">
            <a:avLst/>
          </a:prstGeom>
          <a:solidFill>
            <a:srgbClr val="DEEBF7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213" y="1050373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Insufficiency &amp;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213" y="1128933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unanswerable queries, stale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sources, source disagreement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2635" y="61102"/>
            <a:ext cx="1352974" cy="1379160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2635" y="87289"/>
            <a:ext cx="1352974" cy="104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E75B6"/>
                </a:solidFill>
                <a:latin typeface="Arial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2635" y="192035"/>
            <a:ext cx="1352974" cy="7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0">
                <a:solidFill>
                  <a:srgbClr val="7F7F7F"/>
                </a:solidFill>
                <a:latin typeface="Arial"/>
              </a:rPr>
              <a:t>how the generator uses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40644" y="296781"/>
            <a:ext cx="1256956" cy="328787"/>
          </a:xfrm>
          <a:prstGeom prst="rect">
            <a:avLst/>
          </a:prstGeom>
          <a:solidFill>
            <a:srgbClr val="E2F0D9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3017" y="322968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Context utilisation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3017" y="401528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filtering, compression,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reranking, note-taking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40644" y="660484"/>
            <a:ext cx="1256956" cy="328787"/>
          </a:xfrm>
          <a:prstGeom prst="rect">
            <a:avLst/>
          </a:prstGeom>
          <a:solidFill>
            <a:srgbClr val="E2F0D9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93017" y="686671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Knowledge 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3017" y="765230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parametric vs. retrieved,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source preference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40644" y="1024187"/>
            <a:ext cx="1256956" cy="328787"/>
          </a:xfrm>
          <a:prstGeom prst="rect">
            <a:avLst/>
          </a:prstGeom>
          <a:solidFill>
            <a:srgbClr val="E2F0D9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93017" y="1050373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Faithful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3017" y="1128933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grounding, citation,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claim-level verification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15440" y="61102"/>
            <a:ext cx="1352974" cy="1379160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15440" y="87289"/>
            <a:ext cx="1352974" cy="104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E75B6"/>
                </a:solidFill>
                <a:latin typeface="Arial"/>
              </a:rPr>
              <a:t>Adversary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5440" y="192035"/>
            <a:ext cx="1352974" cy="7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0">
                <a:solidFill>
                  <a:srgbClr val="7F7F7F"/>
                </a:solidFill>
                <a:latin typeface="Arial"/>
              </a:rPr>
              <a:t>an adaptive attacker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63449" y="296781"/>
            <a:ext cx="1256956" cy="328787"/>
          </a:xfrm>
          <a:prstGeom prst="rect">
            <a:avLst/>
          </a:prstGeom>
          <a:solidFill>
            <a:srgbClr val="FBE5D6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5822" y="322968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Corpus poisoning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5822" y="401528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PoisonedRAG, BadRAG,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backdoors, triggers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3449" y="660484"/>
            <a:ext cx="1256956" cy="328787"/>
          </a:xfrm>
          <a:prstGeom prst="rect">
            <a:avLst/>
          </a:prstGeom>
          <a:solidFill>
            <a:srgbClr val="FBE5D6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5822" y="686671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Indirect prompt injection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5822" y="765230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instructions, not evidence;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must clear retrieval 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63449" y="1024187"/>
            <a:ext cx="1256956" cy="328787"/>
          </a:xfrm>
          <a:prstGeom prst="rect">
            <a:avLst/>
          </a:prstGeom>
          <a:solidFill>
            <a:srgbClr val="FBE5D6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5822" y="1050373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Defences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5822" y="1128933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certified aggregation,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reranking, filters, traceback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38245" y="61102"/>
            <a:ext cx="1352974" cy="1379160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38245" y="87289"/>
            <a:ext cx="1352974" cy="104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2E75B6"/>
                </a:solidFill>
                <a:latin typeface="Arial"/>
              </a:rPr>
              <a:t>System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8245" y="192035"/>
            <a:ext cx="1352974" cy="78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0">
                <a:solidFill>
                  <a:srgbClr val="7F7F7F"/>
                </a:solidFill>
                <a:latin typeface="Arial"/>
              </a:rPr>
              <a:t>which action is taken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6253" y="296781"/>
            <a:ext cx="1256956" cy="328787"/>
          </a:xfrm>
          <a:prstGeom prst="rect">
            <a:avLst/>
          </a:prstGeom>
          <a:solidFill>
            <a:srgbClr val="EFEBD8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8627" y="322968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Adaptive retrieval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8627" y="401528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when to retrieve, re-retrieve,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stop, decompose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6253" y="660484"/>
            <a:ext cx="1256956" cy="328787"/>
          </a:xfrm>
          <a:prstGeom prst="rect">
            <a:avLst/>
          </a:prstGeom>
          <a:solidFill>
            <a:srgbClr val="EFEBD8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8627" y="686671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Uncertainty &amp; calibration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8627" y="765230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confidence, selective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prediction, conformal risk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6253" y="1024187"/>
            <a:ext cx="1256956" cy="328787"/>
          </a:xfrm>
          <a:prstGeom prst="rect">
            <a:avLst/>
          </a:prstGeom>
          <a:solidFill>
            <a:srgbClr val="EFEBD8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8627" y="1050373"/>
            <a:ext cx="1152210" cy="74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000000"/>
                </a:solidFill>
                <a:latin typeface="Arial"/>
              </a:rPr>
              <a:t>Abstention &amp; interaction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8627" y="1128933"/>
            <a:ext cx="1152210" cy="197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refuse, clarify, expose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conflict, answer with caveats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831" y="1667213"/>
            <a:ext cx="5621387" cy="523732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831" y="1689035"/>
            <a:ext cx="5621387" cy="96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19" b="1">
                <a:solidFill>
                  <a:srgbClr val="2E75B6"/>
                </a:solidFill>
                <a:latin typeface="Arial"/>
              </a:rPr>
              <a:t>Five reporting coordinates a comparison must fix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2075" y="1448991"/>
            <a:ext cx="8486" cy="3491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3394" y="1479663"/>
            <a:ext cx="82924" cy="8486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9150" y="1483907"/>
            <a:ext cx="8486" cy="174577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10800000">
            <a:off x="644845" y="1621386"/>
            <a:ext cx="37098" cy="3709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164879" y="1448991"/>
            <a:ext cx="8486" cy="7637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169122" y="1521126"/>
            <a:ext cx="711402" cy="8486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76281" y="1525369"/>
            <a:ext cx="8486" cy="13311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10800000">
            <a:off x="2861976" y="1621386"/>
            <a:ext cx="37098" cy="3709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87684" y="1448991"/>
            <a:ext cx="8486" cy="1178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771959" y="1562588"/>
            <a:ext cx="1819968" cy="8486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67716" y="1566831"/>
            <a:ext cx="8486" cy="91653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Isosceles Triangle 62"/>
          <p:cNvSpPr/>
          <p:nvPr/>
        </p:nvSpPr>
        <p:spPr>
          <a:xfrm rot="10800000">
            <a:off x="1753410" y="1621386"/>
            <a:ext cx="37098" cy="3709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10488" y="1448991"/>
            <a:ext cx="8486" cy="15930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14731" y="1604050"/>
            <a:ext cx="82924" cy="8486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93412" y="1608293"/>
            <a:ext cx="8486" cy="50191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10800000">
            <a:off x="5079107" y="1621386"/>
            <a:ext cx="37098" cy="3709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0933" y="1806875"/>
            <a:ext cx="1064921" cy="331697"/>
          </a:xfrm>
          <a:prstGeom prst="rect">
            <a:avLst/>
          </a:prstGeom>
          <a:solidFill>
            <a:srgbClr val="DEEBF7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8942" y="1833061"/>
            <a:ext cx="968904" cy="698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C00000"/>
                </a:solidFill>
                <a:latin typeface="Arial"/>
              </a:rPr>
              <a:t>C1  </a:t>
            </a:r>
            <a:r>
              <a:rPr sz="740" b="1">
                <a:solidFill>
                  <a:srgbClr val="000000"/>
                </a:solidFill>
                <a:latin typeface="Arial"/>
              </a:rPr>
              <a:t>Evidence state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942" y="1915985"/>
            <a:ext cx="968904" cy="200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corpus snapshot,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retriever, top-k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39498" y="1806875"/>
            <a:ext cx="1064921" cy="331697"/>
          </a:xfrm>
          <a:prstGeom prst="rect">
            <a:avLst/>
          </a:prstGeom>
          <a:solidFill>
            <a:srgbClr val="FBE5D6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7507" y="1833061"/>
            <a:ext cx="968904" cy="698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C00000"/>
                </a:solidFill>
                <a:latin typeface="Arial"/>
              </a:rPr>
              <a:t>C2  </a:t>
            </a:r>
            <a:r>
              <a:rPr sz="740" b="1">
                <a:solidFill>
                  <a:srgbClr val="000000"/>
                </a:solidFill>
                <a:latin typeface="Arial"/>
              </a:rPr>
              <a:t>Origin / capability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7507" y="1915985"/>
            <a:ext cx="968904" cy="200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access, persistence,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budget denominator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48064" y="1806875"/>
            <a:ext cx="1064921" cy="331697"/>
          </a:xfrm>
          <a:prstGeom prst="rect">
            <a:avLst/>
          </a:prstGeom>
          <a:solidFill>
            <a:srgbClr val="E2F0D9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96073" y="1833061"/>
            <a:ext cx="968904" cy="698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C00000"/>
                </a:solidFill>
                <a:latin typeface="Arial"/>
              </a:rPr>
              <a:t>C3  </a:t>
            </a:r>
            <a:r>
              <a:rPr sz="740" b="1">
                <a:solidFill>
                  <a:srgbClr val="000000"/>
                </a:solidFill>
                <a:latin typeface="Arial"/>
              </a:rPr>
              <a:t>Intervention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96073" y="1915985"/>
            <a:ext cx="968904" cy="200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which component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changes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56630" y="1806875"/>
            <a:ext cx="1064921" cy="331697"/>
          </a:xfrm>
          <a:prstGeom prst="rect">
            <a:avLst/>
          </a:prstGeom>
          <a:solidFill>
            <a:srgbClr val="EDE8E7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04638" y="1833061"/>
            <a:ext cx="968904" cy="698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C00000"/>
                </a:solidFill>
                <a:latin typeface="Arial"/>
              </a:rPr>
              <a:t>C4  </a:t>
            </a:r>
            <a:r>
              <a:rPr sz="740" b="1">
                <a:solidFill>
                  <a:srgbClr val="000000"/>
                </a:solidFill>
                <a:latin typeface="Arial"/>
              </a:rPr>
              <a:t>Outcome &amp; unit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4638" y="1915985"/>
            <a:ext cx="968904" cy="200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cross-cutting: what is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measured, over what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65195" y="1806875"/>
            <a:ext cx="1064921" cy="331697"/>
          </a:xfrm>
          <a:prstGeom prst="rect">
            <a:avLst/>
          </a:prstGeom>
          <a:solidFill>
            <a:srgbClr val="EFEBD8"/>
          </a:solidFill>
          <a:ln w="9525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3204" y="1833061"/>
            <a:ext cx="968904" cy="698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>
                <a:solidFill>
                  <a:srgbClr val="C00000"/>
                </a:solidFill>
                <a:latin typeface="Arial"/>
              </a:rPr>
              <a:t>C5  </a:t>
            </a:r>
            <a:r>
              <a:rPr sz="740" b="1">
                <a:solidFill>
                  <a:srgbClr val="000000"/>
                </a:solidFill>
                <a:latin typeface="Arial"/>
              </a:rPr>
              <a:t>Policy / utility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13204" y="1915985"/>
            <a:ext cx="968904" cy="2007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action set and</a:t>
            </a:r>
          </a:p>
          <a:p>
            <a:pPr algn="l">
              <a:lnSpc>
                <a:spcPct val="92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its prices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831" y="2409166"/>
            <a:ext cx="5621387" cy="96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80" b="1">
                <a:solidFill>
                  <a:srgbClr val="000000"/>
                </a:solidFill>
                <a:latin typeface="Arial"/>
              </a:rPr>
              <a:t>C3 is recorded but excluded from the decision rule: </a:t>
            </a:r>
            <a:r>
              <a:rPr sz="680" b="0">
                <a:solidFill>
                  <a:srgbClr val="1D3155"/>
                </a:solidFill>
                <a:latin typeface="Arial"/>
              </a:rPr>
              <a:t>comparing two different systems means the intervention differs by construction, so it is the thing compared, not a condition on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