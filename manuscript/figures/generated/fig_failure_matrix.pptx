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760683" cy="213542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4170" y="49661"/>
            <a:ext cx="4836988" cy="1092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40" b="1">
                <a:solidFill>
                  <a:srgbClr val="2E75B6"/>
                </a:solidFill>
                <a:latin typeface="Arial"/>
              </a:rP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4170" y="218509"/>
            <a:ext cx="806165" cy="1589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80" b="1">
                <a:solidFill>
                  <a:srgbClr val="1D3155"/>
                </a:solidFill>
                <a:latin typeface="Arial"/>
              </a:rPr>
              <a:t>Noisy</a:t>
            </a:r>
          </a:p>
          <a:p>
            <a:pPr algn="ctr">
              <a:lnSpc>
                <a:spcPct val="92000"/>
              </a:lnSpc>
            </a:pPr>
            <a:r>
              <a:rPr sz="680" b="1">
                <a:solidFill>
                  <a:srgbClr val="1D3155"/>
                </a:solidFill>
                <a:latin typeface="Arial"/>
              </a:rPr>
              <a:t>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0335" y="218509"/>
            <a:ext cx="806165" cy="1589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80" b="1">
                <a:solidFill>
                  <a:srgbClr val="1D3155"/>
                </a:solidFill>
                <a:latin typeface="Arial"/>
              </a:rPr>
              <a:t>Distraction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6500" y="218509"/>
            <a:ext cx="806165" cy="1589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80" b="1">
                <a:solidFill>
                  <a:srgbClr val="1D3155"/>
                </a:solidFill>
                <a:latin typeface="Arial"/>
              </a:rPr>
              <a:t>Knowledge</a:t>
            </a:r>
          </a:p>
          <a:p>
            <a:pPr algn="ctr">
              <a:lnSpc>
                <a:spcPct val="92000"/>
              </a:lnSpc>
            </a:pPr>
            <a:r>
              <a:rPr sz="680" b="1">
                <a:solidFill>
                  <a:srgbClr val="1D3155"/>
                </a:solidFill>
                <a:latin typeface="Arial"/>
              </a:rPr>
              <a:t>conflict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72664" y="218509"/>
            <a:ext cx="806165" cy="1589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80" b="1">
                <a:solidFill>
                  <a:srgbClr val="1D3155"/>
                </a:solidFill>
                <a:latin typeface="Arial"/>
              </a:rPr>
              <a:t>Adversarial</a:t>
            </a:r>
          </a:p>
          <a:p>
            <a:pPr algn="ctr">
              <a:lnSpc>
                <a:spcPct val="92000"/>
              </a:lnSpc>
            </a:pPr>
            <a:r>
              <a:rPr sz="680" b="1">
                <a:solidFill>
                  <a:srgbClr val="1D3155"/>
                </a:solidFill>
                <a:latin typeface="Arial"/>
              </a:rPr>
              <a:t>corruption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78829" y="218509"/>
            <a:ext cx="806165" cy="1589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80" b="1">
                <a:solidFill>
                  <a:srgbClr val="1D3155"/>
                </a:solidFill>
                <a:latin typeface="Arial"/>
              </a:rPr>
              <a:t>OOD /</a:t>
            </a:r>
          </a:p>
          <a:p>
            <a:pPr algn="ctr">
              <a:lnSpc>
                <a:spcPct val="92000"/>
              </a:lnSpc>
            </a:pPr>
            <a:r>
              <a:rPr sz="680" b="1">
                <a:solidFill>
                  <a:srgbClr val="1D3155"/>
                </a:solidFill>
                <a:latin typeface="Arial"/>
              </a:rPr>
              <a:t>uncertainty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84993" y="218509"/>
            <a:ext cx="806165" cy="1589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80" b="1">
                <a:solidFill>
                  <a:srgbClr val="1D3155"/>
                </a:solidFill>
                <a:latin typeface="Arial"/>
              </a:rPr>
              <a:t>Calibration /</a:t>
            </a:r>
          </a:p>
          <a:p>
            <a:pPr algn="ctr">
              <a:lnSpc>
                <a:spcPct val="92000"/>
              </a:lnSpc>
            </a:pPr>
            <a:r>
              <a:rPr sz="680" b="1">
                <a:solidFill>
                  <a:srgbClr val="1D3155"/>
                </a:solidFill>
                <a:latin typeface="Arial"/>
              </a:rPr>
              <a:t>abstention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2" y="387356"/>
            <a:ext cx="168848" cy="15394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800" b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97" y="168848"/>
            <a:ext cx="754848" cy="2085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95000"/>
              </a:lnSpc>
            </a:pPr>
            <a:r>
              <a:rPr sz="760" b="1">
                <a:solidFill>
                  <a:srgbClr val="2E75B6"/>
                </a:solidFill>
                <a:latin typeface="Arial"/>
              </a:rPr>
              <a:t>Intervention</a:t>
            </a:r>
          </a:p>
          <a:p>
            <a:pPr algn="r">
              <a:lnSpc>
                <a:spcPct val="95000"/>
              </a:lnSpc>
            </a:pPr>
            <a:r>
              <a:rPr sz="760" b="1">
                <a:solidFill>
                  <a:srgbClr val="2E75B6"/>
                </a:solidFill>
                <a:latin typeface="Arial"/>
              </a:rPr>
              <a:t>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97" y="387356"/>
            <a:ext cx="754848" cy="2565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95000"/>
              </a:lnSpc>
            </a:pPr>
            <a:r>
              <a:rPr sz="700" b="1">
                <a:solidFill>
                  <a:srgbClr val="1D3155"/>
                </a:solidFill>
                <a:latin typeface="Arial"/>
              </a:rPr>
              <a:t>Corpus / KB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170" y="387356"/>
            <a:ext cx="786300" cy="236718"/>
          </a:xfrm>
          <a:prstGeom prst="rect">
            <a:avLst/>
          </a:prstGeom>
          <a:solidFill>
            <a:srgbClr val="FBE5D6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170" y="387356"/>
            <a:ext cx="786300" cy="2367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chunking</a:t>
            </a:r>
          </a:p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provenance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60335" y="387356"/>
            <a:ext cx="786300" cy="236718"/>
          </a:xfrm>
          <a:prstGeom prst="rect">
            <a:avLst/>
          </a:prstGeom>
          <a:solidFill>
            <a:srgbClr val="FFFFFF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66500" y="387356"/>
            <a:ext cx="786300" cy="236718"/>
          </a:xfrm>
          <a:prstGeom prst="rect">
            <a:avLst/>
          </a:prstGeom>
          <a:solidFill>
            <a:srgbClr val="FBE5D6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6500" y="387356"/>
            <a:ext cx="786300" cy="2367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freshness</a:t>
            </a:r>
          </a:p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sources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72664" y="387356"/>
            <a:ext cx="786300" cy="236718"/>
          </a:xfrm>
          <a:prstGeom prst="rect">
            <a:avLst/>
          </a:prstGeom>
          <a:solidFill>
            <a:srgbClr val="FBE5D6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72664" y="387356"/>
            <a:ext cx="786300" cy="2367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PoisonedRAG</a:t>
            </a:r>
          </a:p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BadRAG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78829" y="387356"/>
            <a:ext cx="786300" cy="236718"/>
          </a:xfrm>
          <a:prstGeom prst="rect">
            <a:avLst/>
          </a:prstGeom>
          <a:solidFill>
            <a:srgbClr val="FFFFFF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84993" y="387356"/>
            <a:ext cx="786300" cy="236718"/>
          </a:xfrm>
          <a:prstGeom prst="rect">
            <a:avLst/>
          </a:prstGeom>
          <a:solidFill>
            <a:srgbClr val="FFFFFF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797" y="643938"/>
            <a:ext cx="754848" cy="2565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95000"/>
              </a:lnSpc>
            </a:pPr>
            <a:r>
              <a:rPr sz="700" b="1">
                <a:solidFill>
                  <a:srgbClr val="1D3155"/>
                </a:solidFill>
                <a:latin typeface="Arial"/>
              </a:rPr>
              <a:t>Retriever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4170" y="643938"/>
            <a:ext cx="786300" cy="236718"/>
          </a:xfrm>
          <a:prstGeom prst="rect">
            <a:avLst/>
          </a:prstGeom>
          <a:solidFill>
            <a:srgbClr val="FBE5D6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170" y="643938"/>
            <a:ext cx="786300" cy="2367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RAAT</a:t>
            </a:r>
          </a:p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UDCG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60335" y="643938"/>
            <a:ext cx="786300" cy="236718"/>
          </a:xfrm>
          <a:prstGeom prst="rect">
            <a:avLst/>
          </a:prstGeom>
          <a:solidFill>
            <a:srgbClr val="EFEBD8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60335" y="643938"/>
            <a:ext cx="786300" cy="2367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00" b="0">
                <a:solidFill>
                  <a:srgbClr val="1D3155"/>
                </a:solidFill>
                <a:latin typeface="Arial"/>
              </a:rPr>
              <a:t>LC-RAG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6500" y="643938"/>
            <a:ext cx="786300" cy="236718"/>
          </a:xfrm>
          <a:prstGeom prst="rect">
            <a:avLst/>
          </a:prstGeom>
          <a:solidFill>
            <a:srgbClr val="EFEBD8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6500" y="643938"/>
            <a:ext cx="786300" cy="2367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00" b="0">
                <a:solidFill>
                  <a:srgbClr val="1D3155"/>
                </a:solidFill>
                <a:latin typeface="Arial"/>
              </a:rPr>
              <a:t>SourcePref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72664" y="643938"/>
            <a:ext cx="786300" cy="236718"/>
          </a:xfrm>
          <a:prstGeom prst="rect">
            <a:avLst/>
          </a:prstGeom>
          <a:solidFill>
            <a:srgbClr val="FBE5D6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72664" y="643938"/>
            <a:ext cx="786300" cy="2367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ProGRank</a:t>
            </a:r>
          </a:p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RobustRAG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78829" y="643938"/>
            <a:ext cx="786300" cy="236718"/>
          </a:xfrm>
          <a:prstGeom prst="rect">
            <a:avLst/>
          </a:prstGeom>
          <a:solidFill>
            <a:srgbClr val="FBE5D6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78829" y="643938"/>
            <a:ext cx="786300" cy="2367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retrieval</a:t>
            </a:r>
          </a:p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confidence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84993" y="643938"/>
            <a:ext cx="786300" cy="236718"/>
          </a:xfrm>
          <a:prstGeom prst="rect">
            <a:avLst/>
          </a:prstGeom>
          <a:solidFill>
            <a:srgbClr val="EFEBD8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84993" y="643938"/>
            <a:ext cx="786300" cy="2367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00" b="0">
                <a:solidFill>
                  <a:srgbClr val="1D3155"/>
                </a:solidFill>
                <a:latin typeface="Arial"/>
              </a:rPr>
              <a:t>NAACL-Cal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97" y="900521"/>
            <a:ext cx="754848" cy="2565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95000"/>
              </a:lnSpc>
            </a:pPr>
            <a:r>
              <a:rPr sz="700" b="1">
                <a:solidFill>
                  <a:srgbClr val="1D3155"/>
                </a:solidFill>
                <a:latin typeface="Arial"/>
              </a:rPr>
              <a:t>Context assembly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170" y="900521"/>
            <a:ext cx="786300" cy="236718"/>
          </a:xfrm>
          <a:prstGeom prst="rect">
            <a:avLst/>
          </a:prstGeom>
          <a:solidFill>
            <a:srgbClr val="FBE5D6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170" y="900521"/>
            <a:ext cx="786300" cy="2367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FILCO</a:t>
            </a:r>
          </a:p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RECOMP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60335" y="900521"/>
            <a:ext cx="786300" cy="236718"/>
          </a:xfrm>
          <a:prstGeom prst="rect">
            <a:avLst/>
          </a:prstGeom>
          <a:solidFill>
            <a:srgbClr val="FBE5D6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60335" y="900521"/>
            <a:ext cx="786300" cy="2367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CUB</a:t>
            </a:r>
          </a:p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FirstDrop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66500" y="900521"/>
            <a:ext cx="786300" cy="236718"/>
          </a:xfrm>
          <a:prstGeom prst="rect">
            <a:avLst/>
          </a:prstGeom>
          <a:solidFill>
            <a:srgbClr val="FBE5D6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66500" y="900521"/>
            <a:ext cx="786300" cy="2367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FaithfulRAG</a:t>
            </a:r>
          </a:p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AstuteRAG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72664" y="900521"/>
            <a:ext cx="786300" cy="236718"/>
          </a:xfrm>
          <a:prstGeom prst="rect">
            <a:avLst/>
          </a:prstGeom>
          <a:solidFill>
            <a:srgbClr val="FBE5D6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72664" y="900521"/>
            <a:ext cx="786300" cy="2367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TrustRAG</a:t>
            </a:r>
          </a:p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SeCon-RAG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078829" y="900521"/>
            <a:ext cx="786300" cy="236718"/>
          </a:xfrm>
          <a:prstGeom prst="rect">
            <a:avLst/>
          </a:prstGeom>
          <a:solidFill>
            <a:srgbClr val="EFEBD8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78829" y="900521"/>
            <a:ext cx="786300" cy="2367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00" b="0">
                <a:solidFill>
                  <a:srgbClr val="1D3155"/>
                </a:solidFill>
                <a:latin typeface="Arial"/>
              </a:rPr>
              <a:t>SuffCtx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84993" y="900521"/>
            <a:ext cx="786300" cy="236718"/>
          </a:xfrm>
          <a:prstGeom prst="rect">
            <a:avLst/>
          </a:prstGeom>
          <a:solidFill>
            <a:srgbClr val="EFEBD8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84993" y="900521"/>
            <a:ext cx="786300" cy="2367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00" b="0">
                <a:solidFill>
                  <a:srgbClr val="1D3155"/>
                </a:solidFill>
                <a:latin typeface="Arial"/>
              </a:rPr>
              <a:t>SURE-RAG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797" y="1157103"/>
            <a:ext cx="754848" cy="2565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95000"/>
              </a:lnSpc>
            </a:pPr>
            <a:r>
              <a:rPr sz="700" b="1">
                <a:solidFill>
                  <a:srgbClr val="1D3155"/>
                </a:solidFill>
                <a:latin typeface="Arial"/>
              </a:rPr>
              <a:t>Generator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4170" y="1157103"/>
            <a:ext cx="786300" cy="236718"/>
          </a:xfrm>
          <a:prstGeom prst="rect">
            <a:avLst/>
          </a:prstGeom>
          <a:solidFill>
            <a:srgbClr val="EFEBD8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4170" y="1157103"/>
            <a:ext cx="786300" cy="2367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00" b="0">
                <a:solidFill>
                  <a:srgbClr val="1D3155"/>
                </a:solidFill>
                <a:latin typeface="Arial"/>
              </a:rPr>
              <a:t>CoN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660335" y="1157103"/>
            <a:ext cx="786300" cy="236718"/>
          </a:xfrm>
          <a:prstGeom prst="rect">
            <a:avLst/>
          </a:prstGeom>
          <a:solidFill>
            <a:srgbClr val="FBE5D6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660335" y="1157103"/>
            <a:ext cx="786300" cy="2367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context</a:t>
            </a:r>
          </a:p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utilization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466500" y="1157103"/>
            <a:ext cx="786300" cy="236718"/>
          </a:xfrm>
          <a:prstGeom prst="rect">
            <a:avLst/>
          </a:prstGeom>
          <a:solidFill>
            <a:srgbClr val="FBE5D6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466500" y="1157103"/>
            <a:ext cx="786300" cy="2367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CoRect</a:t>
            </a:r>
          </a:p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ParamMute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72664" y="1157103"/>
            <a:ext cx="786300" cy="236718"/>
          </a:xfrm>
          <a:prstGeom prst="rect">
            <a:avLst/>
          </a:prstGeom>
          <a:solidFill>
            <a:srgbClr val="FBE5D6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72664" y="1157103"/>
            <a:ext cx="786300" cy="2367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Phantom</a:t>
            </a:r>
          </a:p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AIP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078829" y="1157103"/>
            <a:ext cx="786300" cy="236718"/>
          </a:xfrm>
          <a:prstGeom prst="rect">
            <a:avLst/>
          </a:prstGeom>
          <a:solidFill>
            <a:srgbClr val="EFEBD8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78829" y="1157103"/>
            <a:ext cx="786300" cy="2367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00" b="0">
                <a:solidFill>
                  <a:srgbClr val="1D3155"/>
                </a:solidFill>
                <a:latin typeface="Arial"/>
              </a:rPr>
              <a:t>FaithUQ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84993" y="1157103"/>
            <a:ext cx="786300" cy="236718"/>
          </a:xfrm>
          <a:prstGeom prst="rect">
            <a:avLst/>
          </a:prstGeom>
          <a:solidFill>
            <a:srgbClr val="EFEBD8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84993" y="1157103"/>
            <a:ext cx="786300" cy="2367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00" b="0">
                <a:solidFill>
                  <a:srgbClr val="1D3155"/>
                </a:solidFill>
                <a:latin typeface="Arial"/>
              </a:rPr>
              <a:t>CalibRAG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797" y="1413685"/>
            <a:ext cx="754848" cy="2565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95000"/>
              </a:lnSpc>
            </a:pPr>
            <a:r>
              <a:rPr sz="700" b="1">
                <a:solidFill>
                  <a:srgbClr val="1D3155"/>
                </a:solidFill>
                <a:latin typeface="Arial"/>
              </a:rPr>
              <a:t>System control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4170" y="1413685"/>
            <a:ext cx="786300" cy="236718"/>
          </a:xfrm>
          <a:prstGeom prst="rect">
            <a:avLst/>
          </a:prstGeom>
          <a:solidFill>
            <a:srgbClr val="EFEBD8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4170" y="1413685"/>
            <a:ext cx="786300" cy="2367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00" b="0">
                <a:solidFill>
                  <a:srgbClr val="1D3155"/>
                </a:solidFill>
                <a:latin typeface="Arial"/>
              </a:rPr>
              <a:t>re-query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660335" y="1413685"/>
            <a:ext cx="786300" cy="236718"/>
          </a:xfrm>
          <a:prstGeom prst="rect">
            <a:avLst/>
          </a:prstGeom>
          <a:solidFill>
            <a:srgbClr val="EFEBD8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660335" y="1413685"/>
            <a:ext cx="786300" cy="2367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00" b="0">
                <a:solidFill>
                  <a:srgbClr val="1D3155"/>
                </a:solidFill>
                <a:latin typeface="Arial"/>
              </a:rPr>
              <a:t>filter / ask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466500" y="1413685"/>
            <a:ext cx="786300" cy="236718"/>
          </a:xfrm>
          <a:prstGeom prst="rect">
            <a:avLst/>
          </a:prstGeom>
          <a:solidFill>
            <a:srgbClr val="FBE5D6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466500" y="1413685"/>
            <a:ext cx="786300" cy="2367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SABER</a:t>
            </a:r>
          </a:p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AstuteRAG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72664" y="1413685"/>
            <a:ext cx="786300" cy="236718"/>
          </a:xfrm>
          <a:prstGeom prst="rect">
            <a:avLst/>
          </a:prstGeom>
          <a:solidFill>
            <a:srgbClr val="FBE5D6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72664" y="1413685"/>
            <a:ext cx="786300" cy="2367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traceback</a:t>
            </a:r>
          </a:p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quarantine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078829" y="1413685"/>
            <a:ext cx="786300" cy="236718"/>
          </a:xfrm>
          <a:prstGeom prst="rect">
            <a:avLst/>
          </a:prstGeom>
          <a:solidFill>
            <a:srgbClr val="FBE5D6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078829" y="1413685"/>
            <a:ext cx="786300" cy="2367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Self-RAG</a:t>
            </a:r>
          </a:p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CRAG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84993" y="1413685"/>
            <a:ext cx="786300" cy="236718"/>
          </a:xfrm>
          <a:prstGeom prst="rect">
            <a:avLst/>
          </a:prstGeom>
          <a:solidFill>
            <a:srgbClr val="FBE5D6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884993" y="1413685"/>
            <a:ext cx="786300" cy="2367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abstain</a:t>
            </a:r>
          </a:p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clarify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9797" y="1670267"/>
            <a:ext cx="754848" cy="2565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95000"/>
              </a:lnSpc>
            </a:pPr>
            <a:r>
              <a:rPr sz="700" b="1">
                <a:solidFill>
                  <a:srgbClr val="1D3155"/>
                </a:solidFill>
                <a:latin typeface="Arial"/>
              </a:rPr>
              <a:t>Evaluation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54170" y="1670267"/>
            <a:ext cx="786300" cy="236718"/>
          </a:xfrm>
          <a:prstGeom prst="rect">
            <a:avLst/>
          </a:prstGeom>
          <a:solidFill>
            <a:srgbClr val="FBE5D6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54170" y="1670267"/>
            <a:ext cx="786300" cy="2367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RGB</a:t>
            </a:r>
          </a:p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MagicMushroom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660335" y="1670267"/>
            <a:ext cx="786300" cy="236718"/>
          </a:xfrm>
          <a:prstGeom prst="rect">
            <a:avLst/>
          </a:prstGeom>
          <a:solidFill>
            <a:srgbClr val="FBE5D6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660335" y="1670267"/>
            <a:ext cx="786300" cy="2367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CUB</a:t>
            </a:r>
          </a:p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UDCG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466500" y="1670267"/>
            <a:ext cx="786300" cy="236718"/>
          </a:xfrm>
          <a:prstGeom prst="rect">
            <a:avLst/>
          </a:prstGeom>
          <a:solidFill>
            <a:srgbClr val="FBE5D6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466500" y="1670267"/>
            <a:ext cx="786300" cy="2367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MAGIC</a:t>
            </a:r>
          </a:p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WikiContradict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72664" y="1670267"/>
            <a:ext cx="786300" cy="236718"/>
          </a:xfrm>
          <a:prstGeom prst="rect">
            <a:avLst/>
          </a:prstGeom>
          <a:solidFill>
            <a:srgbClr val="FBE5D6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72664" y="1670267"/>
            <a:ext cx="786300" cy="2367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SafeRAG</a:t>
            </a:r>
          </a:p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PoisonArena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078829" y="1670267"/>
            <a:ext cx="786300" cy="236718"/>
          </a:xfrm>
          <a:prstGeom prst="rect">
            <a:avLst/>
          </a:prstGeom>
          <a:solidFill>
            <a:srgbClr val="FBE5D6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078829" y="1670267"/>
            <a:ext cx="786300" cy="2367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URAG</a:t>
            </a:r>
          </a:p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MTRAG-UN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884993" y="1670267"/>
            <a:ext cx="786300" cy="236718"/>
          </a:xfrm>
          <a:prstGeom prst="rect">
            <a:avLst/>
          </a:prstGeom>
          <a:solidFill>
            <a:srgbClr val="FBE5D6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884993" y="1670267"/>
            <a:ext cx="786300" cy="2367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ECE</a:t>
            </a:r>
          </a:p>
          <a:p>
            <a:pPr algn="ctr">
              <a:lnSpc>
                <a:spcPct val="92000"/>
              </a:lnSpc>
            </a:pPr>
            <a:r>
              <a:rPr sz="600" b="1">
                <a:solidFill>
                  <a:srgbClr val="1D3155"/>
                </a:solidFill>
                <a:latin typeface="Arial"/>
              </a:rPr>
              <a:t>selective risk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011273" y="2001341"/>
            <a:ext cx="129119" cy="74492"/>
          </a:xfrm>
          <a:prstGeom prst="rect">
            <a:avLst/>
          </a:prstGeom>
          <a:solidFill>
            <a:srgbClr val="FFFFFF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175155" y="1986443"/>
            <a:ext cx="422119" cy="993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660" b="0">
                <a:solidFill>
                  <a:srgbClr val="1D3155"/>
                </a:solidFill>
                <a:latin typeface="Arial"/>
              </a:rPr>
              <a:t>sparse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607206" y="2001341"/>
            <a:ext cx="129119" cy="74492"/>
          </a:xfrm>
          <a:prstGeom prst="rect">
            <a:avLst/>
          </a:prstGeom>
          <a:solidFill>
            <a:srgbClr val="EFEBD8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771087" y="1986443"/>
            <a:ext cx="422119" cy="993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660" b="0">
                <a:solidFill>
                  <a:srgbClr val="1D3155"/>
                </a:solidFill>
                <a:latin typeface="Arial"/>
              </a:rPr>
              <a:t>moderate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3139" y="2001341"/>
            <a:ext cx="129119" cy="74492"/>
          </a:xfrm>
          <a:prstGeom prst="rect">
            <a:avLst/>
          </a:prstGeom>
          <a:solidFill>
            <a:srgbClr val="FBE5D6"/>
          </a:solidFill>
          <a:ln w="8890">
            <a:solidFill>
              <a:srgbClr val="1D3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367020" y="1986443"/>
            <a:ext cx="422119" cy="993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660" b="0">
                <a:solidFill>
                  <a:srgbClr val="1D3155"/>
                </a:solidFill>
                <a:latin typeface="Arial"/>
              </a:rPr>
              <a:t>dense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