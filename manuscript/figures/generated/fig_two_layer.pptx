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770577" cy="166234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1307" y="51307"/>
            <a:ext cx="2667963" cy="554115"/>
          </a:xfrm>
          <a:prstGeom prst="rect">
            <a:avLst/>
          </a:prstGeom>
          <a:noFill/>
          <a:ln w="1270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2875" y="-13146"/>
            <a:ext cx="829634" cy="1289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5964" y="-13146"/>
            <a:ext cx="829634" cy="1289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700" b="1">
                <a:solidFill>
                  <a:srgbClr val="2E75B6"/>
                </a:solidFill>
                <a:latin typeface="Arial"/>
              </a:rPr>
              <a:t>Substantive layer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137" y="133398"/>
            <a:ext cx="2524304" cy="153921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016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137" y="133398"/>
            <a:ext cx="2524304" cy="1539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700" b="1">
                <a:solidFill>
                  <a:srgbClr val="000000"/>
                </a:solidFill>
                <a:latin typeface="Arial"/>
              </a:rPr>
              <a:t>Cross-paper claim:  </a:t>
            </a:r>
            <a:r>
              <a:rPr sz="700" b="0">
                <a:solidFill>
                  <a:srgbClr val="1D3155"/>
                </a:solidFill>
                <a:latin typeface="Arial"/>
              </a:rPr>
              <a:t>“A is more robust than B.”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137" y="328365"/>
            <a:ext cx="480233" cy="215489"/>
          </a:xfrm>
          <a:prstGeom prst="rect">
            <a:avLst/>
          </a:prstGeom>
          <a:noFill/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8529" y="338626"/>
            <a:ext cx="449449" cy="76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60" b="1">
                <a:solidFill>
                  <a:srgbClr val="C00000"/>
                </a:solidFill>
                <a:latin typeface="Arial"/>
              </a:rPr>
              <a:t>C1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529" y="410456"/>
            <a:ext cx="449449" cy="1231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590" b="0">
                <a:solidFill>
                  <a:srgbClr val="1D3155"/>
                </a:solidFill>
                <a:latin typeface="Arial"/>
              </a:rPr>
              <a:t>evidence state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4154" y="328365"/>
            <a:ext cx="480233" cy="215489"/>
          </a:xfrm>
          <a:prstGeom prst="rect">
            <a:avLst/>
          </a:prstGeom>
          <a:noFill/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546" y="338626"/>
            <a:ext cx="449449" cy="76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60" b="1">
                <a:solidFill>
                  <a:srgbClr val="C00000"/>
                </a:solidFill>
                <a:latin typeface="Arial"/>
              </a:rPr>
              <a:t>C2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546" y="410456"/>
            <a:ext cx="449449" cy="1231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590" b="0">
                <a:solidFill>
                  <a:srgbClr val="1D3155"/>
                </a:solidFill>
                <a:latin typeface="Arial"/>
              </a:rPr>
              <a:t>capability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5172" y="328365"/>
            <a:ext cx="480233" cy="215489"/>
          </a:xfrm>
          <a:prstGeom prst="rect">
            <a:avLst/>
          </a:prstGeom>
          <a:noFill/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0564" y="338626"/>
            <a:ext cx="449449" cy="76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60" b="1">
                <a:solidFill>
                  <a:srgbClr val="C00000"/>
                </a:solidFill>
                <a:latin typeface="Arial"/>
              </a:rPr>
              <a:t>C3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0564" y="410456"/>
            <a:ext cx="449449" cy="1231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590" b="0">
                <a:solidFill>
                  <a:srgbClr val="1D3155"/>
                </a:solidFill>
                <a:latin typeface="Arial"/>
              </a:rPr>
              <a:t>intervention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56189" y="328365"/>
            <a:ext cx="480233" cy="215489"/>
          </a:xfrm>
          <a:prstGeom prst="rect">
            <a:avLst/>
          </a:prstGeom>
          <a:noFill/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71582" y="338626"/>
            <a:ext cx="449449" cy="76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60" b="1">
                <a:solidFill>
                  <a:srgbClr val="C00000"/>
                </a:solidFill>
                <a:latin typeface="Arial"/>
              </a:rPr>
              <a:t>C4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71582" y="410456"/>
            <a:ext cx="449449" cy="1231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590" b="0">
                <a:solidFill>
                  <a:srgbClr val="1D3155"/>
                </a:solidFill>
                <a:latin typeface="Arial"/>
              </a:rPr>
              <a:t>outcome unit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7207" y="328365"/>
            <a:ext cx="480233" cy="215489"/>
          </a:xfrm>
          <a:prstGeom prst="rect">
            <a:avLst/>
          </a:prstGeom>
          <a:noFill/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82599" y="338626"/>
            <a:ext cx="449449" cy="76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60" b="1">
                <a:solidFill>
                  <a:srgbClr val="C00000"/>
                </a:solidFill>
                <a:latin typeface="Arial"/>
              </a:rPr>
              <a:t>C5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82599" y="410456"/>
            <a:ext cx="449449" cy="1231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590" b="0">
                <a:solidFill>
                  <a:srgbClr val="1D3155"/>
                </a:solidFill>
                <a:latin typeface="Arial"/>
              </a:rPr>
              <a:t>action set and loss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307" y="954310"/>
            <a:ext cx="2667963" cy="554115"/>
          </a:xfrm>
          <a:prstGeom prst="rect">
            <a:avLst/>
          </a:prstGeom>
          <a:noFill/>
          <a:ln w="1270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2875" y="889857"/>
            <a:ext cx="829634" cy="1289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5964" y="889857"/>
            <a:ext cx="829634" cy="1289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700" b="1">
                <a:solidFill>
                  <a:srgbClr val="2E75B6"/>
                </a:solidFill>
                <a:latin typeface="Arial"/>
              </a:rPr>
              <a:t>Measurement layer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3137" y="1036401"/>
            <a:ext cx="2524304" cy="153921"/>
          </a:xfrm>
          <a:prstGeom prst="roundRect">
            <a:avLst>
              <a:gd name="adj" fmla="val 10000"/>
            </a:avLst>
          </a:prstGeom>
          <a:solidFill>
            <a:srgbClr val="E2F0D9"/>
          </a:solidFill>
          <a:ln w="1016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137" y="1036401"/>
            <a:ext cx="2524304" cy="1539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700" b="1">
                <a:solidFill>
                  <a:srgbClr val="000000"/>
                </a:solidFill>
                <a:latin typeface="Arial"/>
              </a:rPr>
              <a:t>Claim-review study:  </a:t>
            </a:r>
            <a:r>
              <a:rPr sz="700" b="0">
                <a:solidFill>
                  <a:srgbClr val="1D3155"/>
                </a:solidFill>
                <a:latin typeface="Arial"/>
              </a:rPr>
              <a:t>“prompt D improves review.”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3137" y="1231368"/>
            <a:ext cx="480233" cy="215489"/>
          </a:xfrm>
          <a:prstGeom prst="rect">
            <a:avLst/>
          </a:prstGeom>
          <a:noFill/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8529" y="1241629"/>
            <a:ext cx="449449" cy="76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60" b="1">
                <a:solidFill>
                  <a:srgbClr val="C00000"/>
                </a:solidFill>
                <a:latin typeface="Arial"/>
              </a:rPr>
              <a:t>M1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529" y="1313459"/>
            <a:ext cx="449449" cy="1231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590" b="0">
                <a:solidFill>
                  <a:srgbClr val="1D3155"/>
                </a:solidFill>
                <a:latin typeface="Arial"/>
              </a:rPr>
              <a:t>item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4154" y="1231368"/>
            <a:ext cx="480233" cy="215489"/>
          </a:xfrm>
          <a:prstGeom prst="rect">
            <a:avLst/>
          </a:prstGeom>
          <a:noFill/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546" y="1241629"/>
            <a:ext cx="449449" cy="76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60" b="1">
                <a:solidFill>
                  <a:srgbClr val="C00000"/>
                </a:solidFill>
                <a:latin typeface="Arial"/>
              </a:rPr>
              <a:t>M2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546" y="1313459"/>
            <a:ext cx="449449" cy="1231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590" b="0">
                <a:solidFill>
                  <a:srgbClr val="1D3155"/>
                </a:solidFill>
                <a:latin typeface="Arial"/>
              </a:rPr>
              <a:t>reviewer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5172" y="1231368"/>
            <a:ext cx="480233" cy="215489"/>
          </a:xfrm>
          <a:prstGeom prst="rect">
            <a:avLst/>
          </a:prstGeom>
          <a:noFill/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60564" y="1241629"/>
            <a:ext cx="449449" cy="76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60" b="1">
                <a:solidFill>
                  <a:srgbClr val="C00000"/>
                </a:solidFill>
                <a:latin typeface="Arial"/>
              </a:rPr>
              <a:t>M3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0564" y="1313459"/>
            <a:ext cx="449449" cy="1231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590" b="0">
                <a:solidFill>
                  <a:srgbClr val="1D3155"/>
                </a:solidFill>
                <a:latin typeface="Arial"/>
              </a:rPr>
              <a:t>assignment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56189" y="1231368"/>
            <a:ext cx="480233" cy="215489"/>
          </a:xfrm>
          <a:prstGeom prst="rect">
            <a:avLst/>
          </a:prstGeom>
          <a:noFill/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71582" y="1241629"/>
            <a:ext cx="449449" cy="76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60" b="1">
                <a:solidFill>
                  <a:srgbClr val="C00000"/>
                </a:solidFill>
                <a:latin typeface="Arial"/>
              </a:rPr>
              <a:t>M4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71582" y="1313459"/>
            <a:ext cx="449449" cy="1231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590" b="0">
                <a:solidFill>
                  <a:srgbClr val="1D3155"/>
                </a:solidFill>
                <a:latin typeface="Arial"/>
              </a:rPr>
              <a:t>reference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67207" y="1231368"/>
            <a:ext cx="480233" cy="215489"/>
          </a:xfrm>
          <a:prstGeom prst="rect">
            <a:avLst/>
          </a:prstGeom>
          <a:noFill/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82599" y="1241629"/>
            <a:ext cx="449449" cy="76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60" b="1">
                <a:solidFill>
                  <a:srgbClr val="C00000"/>
                </a:solidFill>
                <a:latin typeface="Arial"/>
              </a:rPr>
              <a:t>M5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82599" y="1313459"/>
            <a:ext cx="449449" cy="1231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590" b="0">
                <a:solidFill>
                  <a:srgbClr val="1D3155"/>
                </a:solidFill>
                <a:latin typeface="Arial"/>
              </a:rPr>
              <a:t>downstream loss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9588" y="615684"/>
            <a:ext cx="11402" cy="328365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Isosceles Triangle 42"/>
          <p:cNvSpPr/>
          <p:nvPr/>
        </p:nvSpPr>
        <p:spPr>
          <a:xfrm rot="10800000">
            <a:off x="1363483" y="900438"/>
            <a:ext cx="43611" cy="43611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307" y="666991"/>
            <a:ext cx="1282675" cy="2154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94000"/>
              </a:lnSpc>
            </a:pPr>
            <a:r>
              <a:rPr sz="600" b="0">
                <a:solidFill>
                  <a:srgbClr val="1D3155"/>
                </a:solidFill>
                <a:latin typeface="Arial"/>
              </a:rPr>
              <a:t>4 of 8 stated comparisons</a:t>
            </a:r>
          </a:p>
          <a:p>
            <a:pPr algn="r">
              <a:lnSpc>
                <a:spcPct val="94000"/>
              </a:lnSpc>
            </a:pPr>
            <a:r>
              <a:rPr sz="600" b="0">
                <a:solidFill>
                  <a:srgbClr val="1D3155"/>
                </a:solidFill>
                <a:latin typeface="Arial"/>
              </a:rPr>
              <a:t>are undefined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36596" y="666991"/>
            <a:ext cx="1282675" cy="2154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4000"/>
              </a:lnSpc>
            </a:pPr>
            <a:r>
              <a:rPr sz="600" b="0">
                <a:solidFill>
                  <a:srgbClr val="1D3155"/>
                </a:solidFill>
                <a:latin typeface="Arial"/>
              </a:rPr>
              <a:t>an unmatched coordinate</a:t>
            </a:r>
          </a:p>
          <a:p>
            <a:pPr algn="l">
              <a:lnSpc>
                <a:spcPct val="94000"/>
              </a:lnSpc>
            </a:pPr>
            <a:r>
              <a:rPr sz="600" b="0">
                <a:solidFill>
                  <a:srgbClr val="1D3155"/>
                </a:solidFill>
                <a:latin typeface="Arial"/>
              </a:rPr>
              <a:t>makes the claim unanswerable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307" y="1559732"/>
            <a:ext cx="2667963" cy="923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60" b="1">
                <a:solidFill>
                  <a:srgbClr val="1D3155"/>
                </a:solidFill>
                <a:latin typeface="Arial"/>
              </a:rPr>
              <a:t>Passing one layer cannot repair failure in the other.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