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5760116" cy="1710841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2986" y="42986"/>
            <a:ext cx="1762424" cy="1624869"/>
          </a:xfrm>
          <a:prstGeom prst="rect">
            <a:avLst/>
          </a:prstGeom>
          <a:noFill/>
          <a:ln w="13970">
            <a:solidFill>
              <a:srgbClr val="1D3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2986" y="66628"/>
            <a:ext cx="1762424" cy="1117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611" b="1">
                <a:solidFill>
                  <a:srgbClr val="2E75B6"/>
                </a:solidFill>
                <a:latin typeface="Arial"/>
              </a:rPr>
              <a:t>What the Table Shows</a:t>
            </a:r>
          </a:p>
        </p:txBody>
      </p:sp>
      <p:sp>
        <p:nvSpPr>
          <p:cNvPr id="4" name="Rectangle 3"/>
          <p:cNvSpPr/>
          <p:nvPr/>
        </p:nvSpPr>
        <p:spPr>
          <a:xfrm>
            <a:off x="85972" y="197735"/>
            <a:ext cx="1676452" cy="625445"/>
          </a:xfrm>
          <a:prstGeom prst="rect">
            <a:avLst/>
          </a:prstGeom>
          <a:solidFill>
            <a:srgbClr val="FFFFFF"/>
          </a:solidFill>
          <a:ln w="11430">
            <a:solidFill>
              <a:srgbClr val="1D3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28958" y="156615"/>
            <a:ext cx="773747" cy="82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48302" y="156615"/>
            <a:ext cx="773747" cy="82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446" b="1">
                <a:solidFill>
                  <a:srgbClr val="000000"/>
                </a:solidFill>
                <a:latin typeface="Arial"/>
              </a:rPr>
              <a:t>PoisonedRAG, Table 4 (NQ)</a:t>
            </a:r>
          </a:p>
        </p:txBody>
      </p:sp>
      <p:sp>
        <p:nvSpPr>
          <p:cNvPr id="7" name="Rectangle 6"/>
          <p:cNvSpPr/>
          <p:nvPr/>
        </p:nvSpPr>
        <p:spPr>
          <a:xfrm>
            <a:off x="141854" y="288006"/>
            <a:ext cx="1169218" cy="79524"/>
          </a:xfrm>
          <a:prstGeom prst="rect">
            <a:avLst/>
          </a:prstGeom>
          <a:solidFill>
            <a:srgbClr val="DEEBF7"/>
          </a:solidFill>
          <a:ln w="7620">
            <a:solidFill>
              <a:srgbClr val="DBD1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76242" y="288006"/>
            <a:ext cx="1100440" cy="795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600" b="1">
                <a:solidFill>
                  <a:srgbClr val="000000"/>
                </a:solidFill>
                <a:latin typeface="Arial"/>
              </a:rPr>
              <a:t>PoisonedRAG (Black-Box)</a:t>
            </a:r>
          </a:p>
        </p:txBody>
      </p:sp>
      <p:sp>
        <p:nvSpPr>
          <p:cNvPr id="9" name="Rectangle 8"/>
          <p:cNvSpPr/>
          <p:nvPr/>
        </p:nvSpPr>
        <p:spPr>
          <a:xfrm>
            <a:off x="1319668" y="288006"/>
            <a:ext cx="257916" cy="79524"/>
          </a:xfrm>
          <a:prstGeom prst="rect">
            <a:avLst/>
          </a:prstGeom>
          <a:solidFill>
            <a:srgbClr val="DEEBF7"/>
          </a:solidFill>
          <a:ln w="7620">
            <a:solidFill>
              <a:srgbClr val="DBD1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19668" y="288006"/>
            <a:ext cx="257916" cy="795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600" b="1">
                <a:solidFill>
                  <a:srgbClr val="000000"/>
                </a:solidFill>
                <a:latin typeface="Arial"/>
              </a:rPr>
              <a:t>0.97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41854" y="384724"/>
            <a:ext cx="1169218" cy="79524"/>
          </a:xfrm>
          <a:prstGeom prst="rect">
            <a:avLst/>
          </a:prstGeom>
          <a:solidFill>
            <a:srgbClr val="FFFFFF"/>
          </a:solidFill>
          <a:ln w="7620">
            <a:solidFill>
              <a:srgbClr val="DBD1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76242" y="384724"/>
            <a:ext cx="1100440" cy="795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600" b="0">
                <a:solidFill>
                  <a:srgbClr val="000000"/>
                </a:solidFill>
                <a:latin typeface="Arial"/>
              </a:rPr>
              <a:t>Prompt Injection Attack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19668" y="384724"/>
            <a:ext cx="257916" cy="79524"/>
          </a:xfrm>
          <a:prstGeom prst="rect">
            <a:avLst/>
          </a:prstGeom>
          <a:solidFill>
            <a:srgbClr val="FFFFFF"/>
          </a:solidFill>
          <a:ln w="7620">
            <a:solidFill>
              <a:srgbClr val="DBD1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19668" y="384724"/>
            <a:ext cx="257916" cy="795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600" b="0">
                <a:solidFill>
                  <a:srgbClr val="000000"/>
                </a:solidFill>
                <a:latin typeface="Arial"/>
              </a:rPr>
              <a:t>0.62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41854" y="481443"/>
            <a:ext cx="1169218" cy="79524"/>
          </a:xfrm>
          <a:prstGeom prst="rect">
            <a:avLst/>
          </a:prstGeom>
          <a:solidFill>
            <a:srgbClr val="FFFFFF"/>
          </a:solidFill>
          <a:ln w="7620">
            <a:solidFill>
              <a:srgbClr val="DBD1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76242" y="481443"/>
            <a:ext cx="1100440" cy="795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600" b="0">
                <a:solidFill>
                  <a:srgbClr val="000000"/>
                </a:solidFill>
                <a:latin typeface="Arial"/>
              </a:rPr>
              <a:t>Disinformation Attack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319668" y="481443"/>
            <a:ext cx="257916" cy="79524"/>
          </a:xfrm>
          <a:prstGeom prst="rect">
            <a:avLst/>
          </a:prstGeom>
          <a:solidFill>
            <a:srgbClr val="FFFFFF"/>
          </a:solidFill>
          <a:ln w="7620">
            <a:solidFill>
              <a:srgbClr val="DBD1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19668" y="481443"/>
            <a:ext cx="257916" cy="795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600" b="0">
                <a:solidFill>
                  <a:srgbClr val="000000"/>
                </a:solidFill>
                <a:latin typeface="Arial"/>
              </a:rPr>
              <a:t>0.69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41854" y="578161"/>
            <a:ext cx="1169218" cy="79524"/>
          </a:xfrm>
          <a:prstGeom prst="rect">
            <a:avLst/>
          </a:prstGeom>
          <a:solidFill>
            <a:srgbClr val="FFFFFF"/>
          </a:solidFill>
          <a:ln w="7620">
            <a:solidFill>
              <a:srgbClr val="DBD1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76242" y="578161"/>
            <a:ext cx="1100440" cy="795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600" b="0">
                <a:solidFill>
                  <a:srgbClr val="000000"/>
                </a:solidFill>
                <a:latin typeface="Arial"/>
              </a:rPr>
              <a:t>Naive Attack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319668" y="578161"/>
            <a:ext cx="257916" cy="79524"/>
          </a:xfrm>
          <a:prstGeom prst="rect">
            <a:avLst/>
          </a:prstGeom>
          <a:solidFill>
            <a:srgbClr val="FFFFFF"/>
          </a:solidFill>
          <a:ln w="7620">
            <a:solidFill>
              <a:srgbClr val="DBD1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19668" y="578161"/>
            <a:ext cx="257916" cy="795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600" b="0">
                <a:solidFill>
                  <a:srgbClr val="000000"/>
                </a:solidFill>
                <a:latin typeface="Arial"/>
              </a:rPr>
              <a:t>0.03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41854" y="674879"/>
            <a:ext cx="1169218" cy="79524"/>
          </a:xfrm>
          <a:prstGeom prst="rect">
            <a:avLst/>
          </a:prstGeom>
          <a:solidFill>
            <a:srgbClr val="FBE5D6"/>
          </a:solidFill>
          <a:ln w="7620">
            <a:solidFill>
              <a:srgbClr val="DBD1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76242" y="674879"/>
            <a:ext cx="1100440" cy="795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600" b="1">
                <a:solidFill>
                  <a:srgbClr val="000000"/>
                </a:solidFill>
                <a:latin typeface="Arial"/>
              </a:rPr>
              <a:t>Corpus Poisoning Attack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319668" y="674879"/>
            <a:ext cx="257916" cy="79524"/>
          </a:xfrm>
          <a:prstGeom prst="rect">
            <a:avLst/>
          </a:prstGeom>
          <a:solidFill>
            <a:srgbClr val="FBE5D6"/>
          </a:solidFill>
          <a:ln w="7620">
            <a:solidFill>
              <a:srgbClr val="DBD1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19668" y="674879"/>
            <a:ext cx="257916" cy="795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600" b="1">
                <a:solidFill>
                  <a:srgbClr val="C00000"/>
                </a:solidFill>
                <a:latin typeface="Arial"/>
              </a:rPr>
              <a:t>0.01</a:t>
            </a:r>
          </a:p>
        </p:txBody>
      </p:sp>
      <p:sp>
        <p:nvSpPr>
          <p:cNvPr id="27" name="Down Arrow 26"/>
          <p:cNvSpPr/>
          <p:nvPr/>
        </p:nvSpPr>
        <p:spPr>
          <a:xfrm>
            <a:off x="881212" y="848972"/>
            <a:ext cx="85972" cy="73076"/>
          </a:xfrm>
          <a:prstGeom prst="downArrow">
            <a:avLst/>
          </a:prstGeom>
          <a:solidFill>
            <a:srgbClr val="E2F0D9"/>
          </a:solidFill>
          <a:ln w="762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5972" y="1046708"/>
            <a:ext cx="1676452" cy="283707"/>
          </a:xfrm>
          <a:prstGeom prst="rect">
            <a:avLst/>
          </a:prstGeom>
          <a:solidFill>
            <a:srgbClr val="FFFFFF"/>
          </a:solidFill>
          <a:ln w="11430">
            <a:solidFill>
              <a:srgbClr val="1D3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28958" y="1005588"/>
            <a:ext cx="832552" cy="82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48302" y="1005588"/>
            <a:ext cx="832552" cy="82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446" b="1">
                <a:solidFill>
                  <a:srgbClr val="000000"/>
                </a:solidFill>
                <a:latin typeface="Arial"/>
              </a:rPr>
              <a:t>The sentence a reader forms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4659" y="1106888"/>
            <a:ext cx="1599077" cy="17624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810" b="1">
                <a:solidFill>
                  <a:srgbClr val="000000"/>
                </a:solidFill>
                <a:latin typeface="Arial"/>
              </a:rPr>
              <a:t>“Corpus poisoning does not work.”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972" y="1399192"/>
            <a:ext cx="1676452" cy="171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640" b="1">
                <a:solidFill>
                  <a:srgbClr val="1D3155"/>
                </a:solidFill>
                <a:latin typeface="Arial"/>
              </a:rPr>
              <a:t>Both numbers are correct. Neither supports that sentence.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899979" y="42986"/>
            <a:ext cx="1942965" cy="1624869"/>
          </a:xfrm>
          <a:prstGeom prst="rect">
            <a:avLst/>
          </a:prstGeom>
          <a:noFill/>
          <a:ln w="13970">
            <a:solidFill>
              <a:srgbClr val="1D3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899979" y="66628"/>
            <a:ext cx="1942965" cy="1117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611" b="1">
                <a:solidFill>
                  <a:srgbClr val="2E75B6"/>
                </a:solidFill>
                <a:latin typeface="Arial"/>
              </a:rPr>
              <a:t>What Each Number Counts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942965" y="197735"/>
            <a:ext cx="1856993" cy="249318"/>
          </a:xfrm>
          <a:prstGeom prst="rect">
            <a:avLst/>
          </a:prstGeom>
          <a:solidFill>
            <a:srgbClr val="FFFFFF"/>
          </a:solidFill>
          <a:ln w="11430">
            <a:solidFill>
              <a:srgbClr val="1D3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985951" y="156615"/>
            <a:ext cx="450321" cy="82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005294" y="156615"/>
            <a:ext cx="450321" cy="82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446" b="1">
                <a:solidFill>
                  <a:srgbClr val="000000"/>
                </a:solidFill>
                <a:latin typeface="Arial"/>
              </a:rPr>
              <a:t>Shared by both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981652" y="253617"/>
            <a:ext cx="1779618" cy="1418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630" b="1">
                <a:solidFill>
                  <a:srgbClr val="000000"/>
                </a:solidFill>
                <a:latin typeface="Arial"/>
              </a:rPr>
              <a:t>Natural Questions corpus • pre-trained Contriever retriever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942965" y="541623"/>
            <a:ext cx="885510" cy="713567"/>
          </a:xfrm>
          <a:prstGeom prst="rect">
            <a:avLst/>
          </a:prstGeom>
          <a:solidFill>
            <a:srgbClr val="DEEBF7"/>
          </a:solidFill>
          <a:ln w="11430">
            <a:solidFill>
              <a:srgbClr val="1D3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985951" y="500503"/>
            <a:ext cx="538528" cy="82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005294" y="500503"/>
            <a:ext cx="538528" cy="82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446" b="1">
                <a:solidFill>
                  <a:srgbClr val="000000"/>
                </a:solidFill>
                <a:latin typeface="Arial"/>
              </a:rPr>
              <a:t>PoisonedRAG: 0.01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003145" y="644789"/>
            <a:ext cx="765150" cy="227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</a:pPr>
            <a:r>
              <a:rPr sz="580" b="1">
                <a:solidFill>
                  <a:srgbClr val="1D3155"/>
                </a:solidFill>
                <a:latin typeface="Arial"/>
              </a:rPr>
              <a:t>counts  </a:t>
            </a:r>
            <a:r>
              <a:rPr sz="580" b="0">
                <a:solidFill>
                  <a:srgbClr val="000000"/>
                </a:solidFill>
                <a:latin typeface="Arial"/>
              </a:rPr>
              <a:t>a target question answered with the attacker's answer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003145" y="872615"/>
            <a:ext cx="765150" cy="16334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</a:pPr>
            <a:r>
              <a:rPr sz="580" b="1">
                <a:solidFill>
                  <a:srgbClr val="1D3155"/>
                </a:solidFill>
                <a:latin typeface="Arial"/>
              </a:rPr>
              <a:t>over  </a:t>
            </a:r>
            <a:r>
              <a:rPr sz="580" b="0">
                <a:solidFill>
                  <a:srgbClr val="000000"/>
                </a:solidFill>
                <a:latin typeface="Arial"/>
              </a:rPr>
              <a:t>5 retrieved texts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003145" y="1035961"/>
            <a:ext cx="765150" cy="16334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</a:pPr>
            <a:r>
              <a:rPr sz="580" b="1">
                <a:solidFill>
                  <a:srgbClr val="1D3155"/>
                </a:solidFill>
                <a:latin typeface="Arial"/>
              </a:rPr>
              <a:t>unit  </a:t>
            </a:r>
            <a:r>
              <a:rPr sz="580" b="0">
                <a:solidFill>
                  <a:srgbClr val="000000"/>
                </a:solidFill>
                <a:latin typeface="Arial"/>
              </a:rPr>
              <a:t>fraction of targets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914447" y="541623"/>
            <a:ext cx="885510" cy="713567"/>
          </a:xfrm>
          <a:prstGeom prst="rect">
            <a:avLst/>
          </a:prstGeom>
          <a:solidFill>
            <a:srgbClr val="FBE5D6"/>
          </a:solidFill>
          <a:ln w="11430">
            <a:solidFill>
              <a:srgbClr val="1D3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2957433" y="500503"/>
            <a:ext cx="714942" cy="82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976777" y="500503"/>
            <a:ext cx="714942" cy="82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446" b="1">
                <a:solidFill>
                  <a:srgbClr val="000000"/>
                </a:solidFill>
                <a:latin typeface="Arial"/>
              </a:rPr>
              <a:t>Corpus Poisoning: 84.2%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974627" y="644789"/>
            <a:ext cx="765150" cy="227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</a:pPr>
            <a:r>
              <a:rPr sz="580" b="1">
                <a:solidFill>
                  <a:srgbClr val="1D3155"/>
                </a:solidFill>
                <a:latin typeface="Arial"/>
              </a:rPr>
              <a:t>counts  </a:t>
            </a:r>
            <a:r>
              <a:rPr sz="580" b="0">
                <a:solidFill>
                  <a:srgbClr val="000000"/>
                </a:solidFill>
                <a:latin typeface="Arial"/>
              </a:rPr>
              <a:t>an adversarial passage entering the retrieved set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974627" y="872615"/>
            <a:ext cx="765150" cy="16334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</a:pPr>
            <a:r>
              <a:rPr sz="580" b="1">
                <a:solidFill>
                  <a:srgbClr val="1D3155"/>
                </a:solidFill>
                <a:latin typeface="Arial"/>
              </a:rPr>
              <a:t>over  </a:t>
            </a:r>
            <a:r>
              <a:rPr sz="580" b="0">
                <a:solidFill>
                  <a:srgbClr val="000000"/>
                </a:solidFill>
                <a:latin typeface="Arial"/>
              </a:rPr>
              <a:t>top-20 retrieved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974627" y="1035961"/>
            <a:ext cx="765150" cy="16334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</a:pPr>
            <a:r>
              <a:rPr sz="580" b="1">
                <a:solidFill>
                  <a:srgbClr val="1D3155"/>
                </a:solidFill>
                <a:latin typeface="Arial"/>
              </a:rPr>
              <a:t>unit  </a:t>
            </a:r>
            <a:r>
              <a:rPr sz="580" b="0">
                <a:solidFill>
                  <a:srgbClr val="000000"/>
                </a:solidFill>
                <a:latin typeface="Arial"/>
              </a:rPr>
              <a:t>percentage of queries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942965" y="1349759"/>
            <a:ext cx="1856993" cy="266513"/>
          </a:xfrm>
          <a:prstGeom prst="rect">
            <a:avLst/>
          </a:prstGeom>
          <a:solidFill>
            <a:srgbClr val="FFFFFF"/>
          </a:solidFill>
          <a:ln w="1270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968756" y="1349759"/>
            <a:ext cx="1805410" cy="26651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630" b="1">
                <a:solidFill>
                  <a:srgbClr val="C00000"/>
                </a:solidFill>
                <a:latin typeface="Arial"/>
              </a:rPr>
              <a:t>Corpus poisoning never chooses an answer, so it cannot score on an answer-manipulation metric.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937512" y="42986"/>
            <a:ext cx="1779618" cy="1624869"/>
          </a:xfrm>
          <a:prstGeom prst="rect">
            <a:avLst/>
          </a:prstGeom>
          <a:noFill/>
          <a:ln w="13970">
            <a:solidFill>
              <a:srgbClr val="1D3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937512" y="66628"/>
            <a:ext cx="1779618" cy="1117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611" b="1">
                <a:solidFill>
                  <a:srgbClr val="2E75B6"/>
                </a:solidFill>
                <a:latin typeface="Arial"/>
              </a:rPr>
              <a:t>What the Audit Returns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980498" y="197735"/>
            <a:ext cx="1693646" cy="528727"/>
          </a:xfrm>
          <a:prstGeom prst="rect">
            <a:avLst/>
          </a:prstGeom>
          <a:solidFill>
            <a:srgbClr val="FFFFFF"/>
          </a:solidFill>
          <a:ln w="11430">
            <a:solidFill>
              <a:srgbClr val="1D3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4023484" y="156615"/>
            <a:ext cx="714942" cy="82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042828" y="156615"/>
            <a:ext cx="714942" cy="82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446" b="1">
                <a:solidFill>
                  <a:srgbClr val="000000"/>
                </a:solidFill>
                <a:latin typeface="Arial"/>
              </a:rPr>
              <a:t>Coordinates, both sides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019186" y="283707"/>
            <a:ext cx="146152" cy="79524"/>
          </a:xfrm>
          <a:prstGeom prst="rect">
            <a:avLst/>
          </a:prstGeom>
          <a:solidFill>
            <a:srgbClr val="FFFFFF"/>
          </a:solidFill>
          <a:ln w="6350">
            <a:solidFill>
              <a:srgbClr val="DBD1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019186" y="283707"/>
            <a:ext cx="146152" cy="795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580" b="1">
                <a:solidFill>
                  <a:srgbClr val="000000"/>
                </a:solidFill>
                <a:latin typeface="Arial"/>
              </a:rPr>
              <a:t>C1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199727" y="283707"/>
            <a:ext cx="730761" cy="795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580" b="0">
                <a:solidFill>
                  <a:srgbClr val="000000"/>
                </a:solidFill>
                <a:latin typeface="Arial"/>
              </a:rPr>
              <a:t>evidence state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291570" y="283707"/>
            <a:ext cx="335290" cy="795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291570" y="283707"/>
            <a:ext cx="335290" cy="795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560" b="0">
                <a:solidFill>
                  <a:srgbClr val="7F7F7F"/>
                </a:solidFill>
                <a:latin typeface="Arial"/>
              </a:rPr>
              <a:t>match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019186" y="380426"/>
            <a:ext cx="146152" cy="79524"/>
          </a:xfrm>
          <a:prstGeom prst="rect">
            <a:avLst/>
          </a:prstGeom>
          <a:solidFill>
            <a:srgbClr val="FFFFFF"/>
          </a:solidFill>
          <a:ln w="6350">
            <a:solidFill>
              <a:srgbClr val="DBD1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019186" y="380426"/>
            <a:ext cx="146152" cy="795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580" b="1">
                <a:solidFill>
                  <a:srgbClr val="000000"/>
                </a:solidFill>
                <a:latin typeface="Arial"/>
              </a:rPr>
              <a:t>C2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199727" y="380426"/>
            <a:ext cx="730761" cy="795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580" b="0">
                <a:solidFill>
                  <a:srgbClr val="000000"/>
                </a:solidFill>
                <a:latin typeface="Arial"/>
              </a:rPr>
              <a:t>origin / capability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291570" y="380426"/>
            <a:ext cx="335290" cy="795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5291570" y="380426"/>
            <a:ext cx="335290" cy="795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560" b="0">
                <a:solidFill>
                  <a:srgbClr val="7F7F7F"/>
                </a:solidFill>
                <a:latin typeface="Arial"/>
              </a:rPr>
              <a:t>match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019186" y="477144"/>
            <a:ext cx="146152" cy="79524"/>
          </a:xfrm>
          <a:prstGeom prst="rect">
            <a:avLst/>
          </a:prstGeom>
          <a:solidFill>
            <a:srgbClr val="FBE5D6"/>
          </a:solidFill>
          <a:ln w="6350">
            <a:solidFill>
              <a:srgbClr val="DBD1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019186" y="477144"/>
            <a:ext cx="146152" cy="795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580" b="1">
                <a:solidFill>
                  <a:srgbClr val="000000"/>
                </a:solidFill>
                <a:latin typeface="Arial"/>
              </a:rPr>
              <a:t>C4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199727" y="477144"/>
            <a:ext cx="730761" cy="795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580" b="0">
                <a:solidFill>
                  <a:srgbClr val="000000"/>
                </a:solidFill>
                <a:latin typeface="Arial"/>
              </a:rPr>
              <a:t>outcome / unit</a:t>
            </a:r>
          </a:p>
        </p:txBody>
      </p:sp>
      <p:sp>
        <p:nvSpPr>
          <p:cNvPr id="71" name="Rectangle 70"/>
          <p:cNvSpPr/>
          <p:nvPr/>
        </p:nvSpPr>
        <p:spPr>
          <a:xfrm>
            <a:off x="5291570" y="477144"/>
            <a:ext cx="335290" cy="79524"/>
          </a:xfrm>
          <a:prstGeom prst="rect">
            <a:avLst/>
          </a:prstGeom>
          <a:solidFill>
            <a:srgbClr val="FBE5D6"/>
          </a:solidFill>
          <a:ln w="6350">
            <a:solidFill>
              <a:srgbClr val="DBD1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5291570" y="477144"/>
            <a:ext cx="335290" cy="795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560" b="1">
                <a:solidFill>
                  <a:srgbClr val="C00000"/>
                </a:solidFill>
                <a:latin typeface="Arial"/>
              </a:rPr>
              <a:t>mismatch</a:t>
            </a:r>
          </a:p>
        </p:txBody>
      </p:sp>
      <p:sp>
        <p:nvSpPr>
          <p:cNvPr id="73" name="Rectangle 72"/>
          <p:cNvSpPr/>
          <p:nvPr/>
        </p:nvSpPr>
        <p:spPr>
          <a:xfrm>
            <a:off x="4019186" y="573862"/>
            <a:ext cx="146152" cy="79524"/>
          </a:xfrm>
          <a:prstGeom prst="rect">
            <a:avLst/>
          </a:prstGeom>
          <a:solidFill>
            <a:srgbClr val="FFFFFF"/>
          </a:solidFill>
          <a:ln w="6350">
            <a:solidFill>
              <a:srgbClr val="DBD1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4019186" y="573862"/>
            <a:ext cx="146152" cy="795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580" b="1">
                <a:solidFill>
                  <a:srgbClr val="000000"/>
                </a:solidFill>
                <a:latin typeface="Arial"/>
              </a:rPr>
              <a:t>C5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4199727" y="573862"/>
            <a:ext cx="730761" cy="795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580" b="0">
                <a:solidFill>
                  <a:srgbClr val="000000"/>
                </a:solidFill>
                <a:latin typeface="Arial"/>
              </a:rPr>
              <a:t>policy / utility</a:t>
            </a:r>
          </a:p>
        </p:txBody>
      </p:sp>
      <p:sp>
        <p:nvSpPr>
          <p:cNvPr id="76" name="Rectangle 75"/>
          <p:cNvSpPr/>
          <p:nvPr/>
        </p:nvSpPr>
        <p:spPr>
          <a:xfrm>
            <a:off x="5291570" y="573862"/>
            <a:ext cx="335290" cy="795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5291570" y="573862"/>
            <a:ext cx="335290" cy="795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560" b="0">
                <a:solidFill>
                  <a:srgbClr val="7F7F7F"/>
                </a:solidFill>
                <a:latin typeface="Arial"/>
              </a:rPr>
              <a:t>match</a:t>
            </a:r>
          </a:p>
        </p:txBody>
      </p:sp>
      <p:sp>
        <p:nvSpPr>
          <p:cNvPr id="78" name="Down Arrow 77"/>
          <p:cNvSpPr/>
          <p:nvPr/>
        </p:nvSpPr>
        <p:spPr>
          <a:xfrm>
            <a:off x="4784336" y="743657"/>
            <a:ext cx="85972" cy="73076"/>
          </a:xfrm>
          <a:prstGeom prst="downArrow">
            <a:avLst/>
          </a:prstGeom>
          <a:solidFill>
            <a:srgbClr val="E2F0D9"/>
          </a:solidFill>
          <a:ln w="762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3980498" y="898406"/>
            <a:ext cx="1693646" cy="318096"/>
          </a:xfrm>
          <a:prstGeom prst="rect">
            <a:avLst/>
          </a:prstGeom>
          <a:solidFill>
            <a:srgbClr val="FFFFFF"/>
          </a:solidFill>
          <a:ln w="11430">
            <a:solidFill>
              <a:srgbClr val="1D3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4023484" y="857286"/>
            <a:ext cx="244504" cy="82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4042828" y="857286"/>
            <a:ext cx="244504" cy="82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446" b="1">
                <a:solidFill>
                  <a:srgbClr val="000000"/>
                </a:solidFill>
                <a:latin typeface="Arial"/>
              </a:rPr>
              <a:t>Verdict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019186" y="949989"/>
            <a:ext cx="1616271" cy="21063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860" b="1">
                <a:solidFill>
                  <a:srgbClr val="C00000"/>
                </a:solidFill>
                <a:latin typeface="Arial"/>
              </a:rPr>
              <a:t>undefined</a:t>
            </a:r>
            <a:r>
              <a:rPr sz="600" b="0">
                <a:solidFill>
                  <a:srgbClr val="000000"/>
                </a:solidFill>
                <a:latin typeface="Arial"/>
              </a:rPr>
              <a:t/>
            </a:r>
          </a:p>
          <a:p>
            <a:pPr algn="ctr">
              <a:lnSpc>
                <a:spcPct val="95000"/>
              </a:lnSpc>
            </a:pPr>
            <a:r>
              <a:rPr sz="600" b="0">
                <a:solidFill>
                  <a:srgbClr val="000000"/>
                </a:solidFill>
                <a:latin typeface="Arial"/>
              </a:rPr>
              <a:t>no operating point makes 1% and 84.2%</a:t>
            </a:r>
          </a:p>
          <a:p>
            <a:pPr algn="ctr">
              <a:lnSpc>
                <a:spcPct val="95000"/>
              </a:lnSpc>
            </a:pPr>
            <a:r>
              <a:rPr sz="600" b="0">
                <a:solidFill>
                  <a:srgbClr val="000000"/>
                </a:solidFill>
                <a:latin typeface="Arial"/>
              </a:rPr>
              <a:t>answer one question</a:t>
            </a:r>
          </a:p>
        </p:txBody>
      </p:sp>
      <p:sp>
        <p:nvSpPr>
          <p:cNvPr id="83" name="Rectangle 82"/>
          <p:cNvSpPr/>
          <p:nvPr/>
        </p:nvSpPr>
        <p:spPr>
          <a:xfrm>
            <a:off x="3980498" y="1293877"/>
            <a:ext cx="1693646" cy="300902"/>
          </a:xfrm>
          <a:prstGeom prst="rect">
            <a:avLst/>
          </a:prstGeom>
          <a:solidFill>
            <a:srgbClr val="FFFFFF"/>
          </a:solidFill>
          <a:ln w="11430">
            <a:solidFill>
              <a:srgbClr val="1D3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4023484" y="1252757"/>
            <a:ext cx="626735" cy="82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4042828" y="1252757"/>
            <a:ext cx="626735" cy="82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446" b="1">
                <a:solidFill>
                  <a:srgbClr val="000000"/>
                </a:solidFill>
                <a:latin typeface="Arial"/>
              </a:rPr>
              <a:t>What may be reported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036380" y="1354057"/>
            <a:ext cx="1581883" cy="19343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600" b="0">
                <a:solidFill>
                  <a:srgbClr val="000000"/>
                </a:solidFill>
                <a:latin typeface="Arial"/>
              </a:rPr>
              <a:t>These two attacks cannot be ranked by these two numbers — and the benchmarked paper said so.</a:t>
            </a:r>
          </a:p>
        </p:txBody>
      </p:sp>
      <p:sp>
        <p:nvSpPr>
          <p:cNvPr id="87" name="Rectangle 86"/>
          <p:cNvSpPr/>
          <p:nvPr/>
        </p:nvSpPr>
        <p:spPr>
          <a:xfrm>
            <a:off x="1805410" y="640013"/>
            <a:ext cx="94569" cy="9552"/>
          </a:xfrm>
          <a:prstGeom prst="rect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8" name="Isosceles Triangle 87"/>
          <p:cNvSpPr/>
          <p:nvPr/>
        </p:nvSpPr>
        <p:spPr>
          <a:xfrm rot="5400000">
            <a:off x="1863441" y="626520"/>
            <a:ext cx="36538" cy="36538"/>
          </a:xfrm>
          <a:prstGeom prst="triangle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3842943" y="640013"/>
            <a:ext cx="94569" cy="9552"/>
          </a:xfrm>
          <a:prstGeom prst="rect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0" name="Isosceles Triangle 89"/>
          <p:cNvSpPr/>
          <p:nvPr/>
        </p:nvSpPr>
        <p:spPr>
          <a:xfrm rot="5400000">
            <a:off x="3900974" y="626520"/>
            <a:ext cx="36538" cy="36538"/>
          </a:xfrm>
          <a:prstGeom prst="triangle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