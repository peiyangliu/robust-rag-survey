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1013" cy="222685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8758" y="243735"/>
            <a:ext cx="2437351" cy="819836"/>
          </a:xfrm>
          <a:prstGeom prst="rect">
            <a:avLst/>
          </a:prstGeom>
          <a:solidFill>
            <a:srgbClr val="E2F0D9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152" y="282511"/>
            <a:ext cx="2326563" cy="110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>
                <a:solidFill>
                  <a:srgbClr val="1D3155"/>
                </a:solidFill>
                <a:latin typeface="Arial"/>
              </a:rPr>
              <a:t>Answerability &amp;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09" y="243735"/>
            <a:ext cx="2437351" cy="819836"/>
          </a:xfrm>
          <a:prstGeom prst="rect">
            <a:avLst/>
          </a:prstGeom>
          <a:solidFill>
            <a:srgbClr val="EDE8E7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01503" y="282511"/>
            <a:ext cx="2326563" cy="110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>
                <a:solidFill>
                  <a:srgbClr val="1D3155"/>
                </a:solidFill>
                <a:latin typeface="Arial"/>
              </a:rPr>
              <a:t>End-to-End Robust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08758" y="1063572"/>
            <a:ext cx="2437351" cy="819836"/>
          </a:xfrm>
          <a:prstGeom prst="rect">
            <a:avLst/>
          </a:prstGeom>
          <a:solidFill>
            <a:srgbClr val="DEEBF7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52" y="1102348"/>
            <a:ext cx="2326563" cy="110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>
                <a:solidFill>
                  <a:srgbClr val="1D3155"/>
                </a:solidFill>
                <a:latin typeface="Arial"/>
              </a:rPr>
              <a:t>Retrieval Noise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09" y="1063572"/>
            <a:ext cx="2437351" cy="819836"/>
          </a:xfrm>
          <a:prstGeom prst="rect">
            <a:avLst/>
          </a:prstGeom>
          <a:solidFill>
            <a:srgbClr val="FBE5D6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1503" y="1102348"/>
            <a:ext cx="2326563" cy="110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>
                <a:solidFill>
                  <a:srgbClr val="1D3155"/>
                </a:solidFill>
                <a:latin typeface="Arial"/>
              </a:rPr>
              <a:t>Attack / Defense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310" y="432076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310" y="432076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RAGTruth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1894" y="432076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1894" y="432076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URAG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310" y="620417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310" y="620417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MTRAG-UN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1894" y="620417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1894" y="620417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CRUMQs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310" y="808758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310" y="808758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RAG-QA Arena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3661" y="432076"/>
            <a:ext cx="2215774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3661" y="432076"/>
            <a:ext cx="2215774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SURE-RAG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3661" y="620417"/>
            <a:ext cx="2215774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3661" y="620417"/>
            <a:ext cx="2215774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SafeRAG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310" y="1251912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310" y="1251912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RGB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21894" y="1251912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1894" y="1251912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QueryRobust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310" y="1440253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310" y="1440253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MagicMushroom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21894" y="1440253"/>
            <a:ext cx="1080190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1894" y="1440253"/>
            <a:ext cx="1080190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LC-RAG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23661" y="1251912"/>
            <a:ext cx="2215774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3661" y="1251912"/>
            <a:ext cx="2215774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PoisonArena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23661" y="1440253"/>
            <a:ext cx="2215774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23661" y="1440253"/>
            <a:ext cx="2215774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PoisonedRAG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23661" y="1628594"/>
            <a:ext cx="2215774" cy="1440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3661" y="1628594"/>
            <a:ext cx="2215774" cy="144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BadRAG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758" y="243735"/>
            <a:ext cx="4874703" cy="1639673"/>
          </a:xfrm>
          <a:prstGeom prst="rect">
            <a:avLst/>
          </a:prstGeom>
          <a:noFill/>
          <a:ln w="1651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158" y="243735"/>
            <a:ext cx="720127" cy="1639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740" b="1">
                <a:solidFill>
                  <a:srgbClr val="2E75B6"/>
                </a:solidFill>
                <a:latin typeface="Arial"/>
              </a:rPr>
              <a:t>Evaluation target</a:t>
            </a:r>
          </a:p>
          <a:p>
            <a:pPr algn="r">
              <a:lnSpc>
                <a:spcPct val="105000"/>
              </a:lnSpc>
            </a:pPr>
            <a:r>
              <a:rPr sz="740" b="1">
                <a:solidFill>
                  <a:srgbClr val="2E75B6"/>
                </a:solidFill>
                <a:latin typeface="Arial"/>
              </a:rPr>
              <a:t>↑ system-action</a:t>
            </a:r>
          </a:p>
          <a:p>
            <a:pPr algn="r">
              <a:lnSpc>
                <a:spcPct val="105000"/>
              </a:lnSpc>
            </a:pPr>
            <a:r>
              <a:rPr sz="740" b="1">
                <a:solidFill>
                  <a:srgbClr val="2E75B6"/>
                </a:solidFill>
                <a:latin typeface="Arial"/>
              </a:rPr>
              <a:t>↓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758" y="1927723"/>
            <a:ext cx="4874703" cy="121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40" b="1">
                <a:solidFill>
                  <a:srgbClr val="2E75B6"/>
                </a:solidFill>
                <a:latin typeface="Arial"/>
              </a:rPr>
              <a:t>Evidence risk:   benign noise  →  adversarial corruption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758" y="2071749"/>
            <a:ext cx="4874703" cy="110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C00000"/>
                </a:solidFill>
                <a:latin typeface="Arial"/>
              </a:rPr>
              <a:t>Open gap: few benchmarks jointly cover noise, conflict, poisoning, uncertainty and action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