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60116" cy="186559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86" y="42986"/>
            <a:ext cx="1556091" cy="1779618"/>
          </a:xfrm>
          <a:prstGeom prst="rect">
            <a:avLst/>
          </a:prstGeom>
          <a:noFill/>
          <a:ln w="1397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86" y="66628"/>
            <a:ext cx="1556091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11" b="1">
                <a:solidFill>
                  <a:srgbClr val="2E75B6"/>
                </a:solidFill>
                <a:latin typeface="Arial"/>
              </a:rPr>
              <a:t>Where the Frame Comes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214930" y="214930"/>
            <a:ext cx="1212204" cy="214930"/>
          </a:xfrm>
          <a:prstGeom prst="rect">
            <a:avLst/>
          </a:prstGeom>
          <a:solidFill>
            <a:srgbClr val="FFFFFF"/>
          </a:solidFill>
          <a:ln w="1016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9318" y="227826"/>
            <a:ext cx="408366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90" b="1">
                <a:solidFill>
                  <a:srgbClr val="1D3155"/>
                </a:solidFill>
                <a:latin typeface="Arial"/>
              </a:rPr>
              <a:t>1,904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984" y="227826"/>
            <a:ext cx="739358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40" b="0">
                <a:solidFill>
                  <a:srgbClr val="000000"/>
                </a:solidFill>
                <a:latin typeface="Arial"/>
              </a:rPr>
              <a:t>records retrieved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9318" y="339589"/>
            <a:ext cx="1143426" cy="77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540" b="0">
                <a:solidFill>
                  <a:srgbClr val="7F7F7F"/>
                </a:solidFill>
                <a:latin typeface="Arial"/>
              </a:rPr>
              <a:t>55 queries, 5 venue sources</a:t>
            </a:r>
          </a:p>
        </p:txBody>
      </p:sp>
      <p:sp>
        <p:nvSpPr>
          <p:cNvPr id="8" name="Down Arrow 7"/>
          <p:cNvSpPr/>
          <p:nvPr/>
        </p:nvSpPr>
        <p:spPr>
          <a:xfrm>
            <a:off x="784493" y="438457"/>
            <a:ext cx="73076" cy="49434"/>
          </a:xfrm>
          <a:prstGeom prst="downArrow">
            <a:avLst/>
          </a:prstGeom>
          <a:solidFill>
            <a:srgbClr val="E2F0D9"/>
          </a:solidFill>
          <a:ln w="762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4930" y="511533"/>
            <a:ext cx="1212204" cy="146152"/>
          </a:xfrm>
          <a:prstGeom prst="rect">
            <a:avLst/>
          </a:prstGeom>
          <a:solidFill>
            <a:srgbClr val="FFFFFF"/>
          </a:solidFill>
          <a:ln w="1016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318" y="511533"/>
            <a:ext cx="408366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90" b="1">
                <a:solidFill>
                  <a:srgbClr val="1D3155"/>
                </a:solidFill>
                <a:latin typeface="Arial"/>
              </a:rPr>
              <a:t>1,445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984" y="511533"/>
            <a:ext cx="739358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40" b="0">
                <a:solidFill>
                  <a:srgbClr val="000000"/>
                </a:solidFill>
                <a:latin typeface="Arial"/>
              </a:rPr>
              <a:t>with an open PDF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784493" y="666282"/>
            <a:ext cx="73076" cy="49434"/>
          </a:xfrm>
          <a:prstGeom prst="downArrow">
            <a:avLst/>
          </a:prstGeom>
          <a:solidFill>
            <a:srgbClr val="E2F0D9"/>
          </a:solidFill>
          <a:ln w="762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4930" y="739358"/>
            <a:ext cx="1212204" cy="146152"/>
          </a:xfrm>
          <a:prstGeom prst="rect">
            <a:avLst/>
          </a:prstGeom>
          <a:solidFill>
            <a:srgbClr val="FFFFFF"/>
          </a:solidFill>
          <a:ln w="1016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318" y="739358"/>
            <a:ext cx="408366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90" b="1">
                <a:solidFill>
                  <a:srgbClr val="1D3155"/>
                </a:solidFill>
                <a:latin typeface="Arial"/>
              </a:rPr>
              <a:t>536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984" y="739358"/>
            <a:ext cx="739358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40" b="0">
                <a:solidFill>
                  <a:srgbClr val="000000"/>
                </a:solidFill>
                <a:latin typeface="Arial"/>
              </a:rPr>
              <a:t>retained by screen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84493" y="894108"/>
            <a:ext cx="73076" cy="49434"/>
          </a:xfrm>
          <a:prstGeom prst="downArrow">
            <a:avLst/>
          </a:prstGeom>
          <a:solidFill>
            <a:srgbClr val="E2F0D9"/>
          </a:solidFill>
          <a:ln w="762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4930" y="967184"/>
            <a:ext cx="1212204" cy="214930"/>
          </a:xfrm>
          <a:prstGeom prst="rect">
            <a:avLst/>
          </a:prstGeom>
          <a:solidFill>
            <a:srgbClr val="FFFFFF"/>
          </a:solidFill>
          <a:ln w="1016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9318" y="980080"/>
            <a:ext cx="408366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90" b="1">
                <a:solidFill>
                  <a:srgbClr val="1D3155"/>
                </a:solidFill>
                <a:latin typeface="Arial"/>
              </a:rPr>
              <a:t>259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984" y="980080"/>
            <a:ext cx="739358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40" b="0">
                <a:solidFill>
                  <a:srgbClr val="000000"/>
                </a:solidFill>
                <a:latin typeface="Arial"/>
              </a:rPr>
              <a:t>extracted full texts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318" y="1091843"/>
            <a:ext cx="1143426" cy="77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540" b="0">
                <a:solidFill>
                  <a:srgbClr val="7F7F7F"/>
                </a:solidFill>
                <a:latin typeface="Arial"/>
              </a:rPr>
              <a:t>the corpus audited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784493" y="1190711"/>
            <a:ext cx="73076" cy="49434"/>
          </a:xfrm>
          <a:prstGeom prst="downArrow">
            <a:avLst/>
          </a:prstGeom>
          <a:solidFill>
            <a:srgbClr val="E2F0D9"/>
          </a:solidFill>
          <a:ln w="762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4930" y="1263787"/>
            <a:ext cx="1212204" cy="214930"/>
          </a:xfrm>
          <a:prstGeom prst="rect">
            <a:avLst/>
          </a:prstGeom>
          <a:solidFill>
            <a:srgbClr val="DEEBF7"/>
          </a:solidFill>
          <a:ln w="1016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9318" y="1276683"/>
            <a:ext cx="408366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90" b="1">
                <a:solidFill>
                  <a:srgbClr val="1D3155"/>
                </a:solidFill>
                <a:latin typeface="Arial"/>
              </a:rPr>
              <a:t>1,703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984" y="1276683"/>
            <a:ext cx="739358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40" b="0">
                <a:solidFill>
                  <a:srgbClr val="000000"/>
                </a:solidFill>
                <a:latin typeface="Arial"/>
              </a:rPr>
              <a:t>candidate windows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9318" y="1388446"/>
            <a:ext cx="1143426" cy="77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540" b="0">
                <a:solidFill>
                  <a:srgbClr val="7F7F7F"/>
                </a:solidFill>
                <a:latin typeface="Arial"/>
              </a:rPr>
              <a:t>704 eligible by majority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4930" y="1603376"/>
            <a:ext cx="1212204" cy="197735"/>
          </a:xfrm>
          <a:prstGeom prst="rect">
            <a:avLst/>
          </a:prstGeom>
          <a:solidFill>
            <a:srgbClr val="FFFFFF"/>
          </a:solidFill>
          <a:ln w="1143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9318" y="1603376"/>
            <a:ext cx="1143426" cy="1977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560" b="0">
                <a:solidFill>
                  <a:srgbClr val="C00000"/>
                </a:solidFill>
                <a:latin typeface="Arial"/>
              </a:rPr>
              <a:t>Stage 1 is documented but not</a:t>
            </a:r>
          </a:p>
          <a:p>
            <a:pPr algn="l">
              <a:lnSpc>
                <a:spcPct val="92000"/>
              </a:lnSpc>
            </a:pPr>
            <a:r>
              <a:rPr sz="560" b="0">
                <a:solidFill>
                  <a:srgbClr val="C00000"/>
                </a:solidFill>
                <a:latin typeface="Arial"/>
              </a:rPr>
              <a:t>re-executable; everything below is.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93646" y="42986"/>
            <a:ext cx="2089117" cy="1779618"/>
          </a:xfrm>
          <a:prstGeom prst="rect">
            <a:avLst/>
          </a:prstGeom>
          <a:noFill/>
          <a:ln w="1397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93646" y="66628"/>
            <a:ext cx="2089117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11" b="1">
                <a:solidFill>
                  <a:srgbClr val="2E75B6"/>
                </a:solidFill>
                <a:latin typeface="Arial"/>
              </a:rPr>
              <a:t>What the Instrument Asks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36632" y="197735"/>
            <a:ext cx="2003145" cy="668431"/>
          </a:xfrm>
          <a:prstGeom prst="rect">
            <a:avLst/>
          </a:prstGeom>
          <a:solidFill>
            <a:srgbClr val="FFFFFF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79618" y="156615"/>
            <a:ext cx="1214783" cy="82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98962" y="156615"/>
            <a:ext cx="1214783" cy="82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446" b="1">
                <a:solidFill>
                  <a:srgbClr val="000000"/>
                </a:solidFill>
                <a:latin typeface="Arial"/>
              </a:rPr>
              <a:t>Five coordinates, recorded on both sides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75319" y="279409"/>
            <a:ext cx="146152" cy="83823"/>
          </a:xfrm>
          <a:prstGeom prst="rect">
            <a:avLst/>
          </a:prstGeom>
          <a:solidFill>
            <a:srgbClr val="FFFFFF"/>
          </a:solidFill>
          <a:ln w="635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75319" y="279409"/>
            <a:ext cx="146152" cy="838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1">
                <a:solidFill>
                  <a:srgbClr val="000000"/>
                </a:solidFill>
                <a:latin typeface="Arial"/>
              </a:rPr>
              <a:t>C1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55860" y="279409"/>
            <a:ext cx="679178" cy="838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00" b="1">
                <a:solidFill>
                  <a:srgbClr val="000000"/>
                </a:solidFill>
                <a:latin typeface="Arial"/>
              </a:rPr>
              <a:t>evidence 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60830" y="279409"/>
            <a:ext cx="1031663" cy="838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560" b="0">
                <a:solidFill>
                  <a:srgbClr val="7F7F7F"/>
                </a:solidFill>
                <a:latin typeface="Arial"/>
              </a:rPr>
              <a:t>corpus, retriever, top-k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75319" y="384724"/>
            <a:ext cx="146152" cy="83823"/>
          </a:xfrm>
          <a:prstGeom prst="rect">
            <a:avLst/>
          </a:prstGeom>
          <a:solidFill>
            <a:srgbClr val="FFFFFF"/>
          </a:solidFill>
          <a:ln w="635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75319" y="384724"/>
            <a:ext cx="146152" cy="838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1">
                <a:solidFill>
                  <a:srgbClr val="000000"/>
                </a:solidFill>
                <a:latin typeface="Arial"/>
              </a:rPr>
              <a:t>C2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55860" y="384724"/>
            <a:ext cx="679178" cy="838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00" b="1">
                <a:solidFill>
                  <a:srgbClr val="000000"/>
                </a:solidFill>
                <a:latin typeface="Arial"/>
              </a:rPr>
              <a:t>origin / capability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60830" y="384724"/>
            <a:ext cx="1031663" cy="838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560" b="0">
                <a:solidFill>
                  <a:srgbClr val="7F7F7F"/>
                </a:solidFill>
                <a:latin typeface="Arial"/>
              </a:rPr>
              <a:t>access, budget, scope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75319" y="490040"/>
            <a:ext cx="146152" cy="83823"/>
          </a:xfrm>
          <a:prstGeom prst="rect">
            <a:avLst/>
          </a:prstGeom>
          <a:solidFill>
            <a:srgbClr val="DBD1CE"/>
          </a:solidFill>
          <a:ln w="635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75319" y="490040"/>
            <a:ext cx="146152" cy="838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1">
                <a:solidFill>
                  <a:srgbClr val="7F7F7F"/>
                </a:solidFill>
                <a:latin typeface="Arial"/>
              </a:rPr>
              <a:t>C3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55860" y="490040"/>
            <a:ext cx="679178" cy="838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00" b="1">
                <a:solidFill>
                  <a:srgbClr val="7F7F7F"/>
                </a:solidFill>
                <a:latin typeface="Arial"/>
              </a:rPr>
              <a:t>intervention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60830" y="490040"/>
            <a:ext cx="1031663" cy="838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560" b="1">
                <a:solidFill>
                  <a:srgbClr val="C00000"/>
                </a:solidFill>
                <a:latin typeface="Arial"/>
              </a:rPr>
              <a:t>excluded from the rule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75319" y="595355"/>
            <a:ext cx="146152" cy="83823"/>
          </a:xfrm>
          <a:prstGeom prst="rect">
            <a:avLst/>
          </a:prstGeom>
          <a:solidFill>
            <a:srgbClr val="FFFFFF"/>
          </a:solidFill>
          <a:ln w="635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75319" y="595355"/>
            <a:ext cx="146152" cy="838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1">
                <a:solidFill>
                  <a:srgbClr val="000000"/>
                </a:solidFill>
                <a:latin typeface="Arial"/>
              </a:rPr>
              <a:t>C4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55860" y="595355"/>
            <a:ext cx="679178" cy="838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00" b="1">
                <a:solidFill>
                  <a:srgbClr val="000000"/>
                </a:solidFill>
                <a:latin typeface="Arial"/>
              </a:rPr>
              <a:t>outcome / unit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60830" y="595355"/>
            <a:ext cx="1031663" cy="838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560" b="0">
                <a:solidFill>
                  <a:srgbClr val="7F7F7F"/>
                </a:solidFill>
                <a:latin typeface="Arial"/>
              </a:rPr>
              <a:t>what is measured, per what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75319" y="700671"/>
            <a:ext cx="146152" cy="83823"/>
          </a:xfrm>
          <a:prstGeom prst="rect">
            <a:avLst/>
          </a:prstGeom>
          <a:solidFill>
            <a:srgbClr val="FFFFFF"/>
          </a:solidFill>
          <a:ln w="635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75319" y="700671"/>
            <a:ext cx="146152" cy="838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1">
                <a:solidFill>
                  <a:srgbClr val="000000"/>
                </a:solidFill>
                <a:latin typeface="Arial"/>
              </a:rPr>
              <a:t>C5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55860" y="700671"/>
            <a:ext cx="679178" cy="838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00" b="1">
                <a:solidFill>
                  <a:srgbClr val="000000"/>
                </a:solidFill>
                <a:latin typeface="Arial"/>
              </a:rPr>
              <a:t>policy / utility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60830" y="700671"/>
            <a:ext cx="1031663" cy="838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560" b="0">
                <a:solidFill>
                  <a:srgbClr val="7F7F7F"/>
                </a:solidFill>
                <a:latin typeface="Arial"/>
              </a:rPr>
              <a:t>action set and its prices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2695219" y="891958"/>
            <a:ext cx="85972" cy="73076"/>
          </a:xfrm>
          <a:prstGeom prst="downArrow">
            <a:avLst/>
          </a:prstGeom>
          <a:solidFill>
            <a:srgbClr val="E2F0D9"/>
          </a:solidFill>
          <a:ln w="762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736632" y="1089694"/>
            <a:ext cx="2003145" cy="477144"/>
          </a:xfrm>
          <a:prstGeom prst="rect">
            <a:avLst/>
          </a:prstGeom>
          <a:solidFill>
            <a:srgbClr val="FFFFFF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779618" y="1048573"/>
            <a:ext cx="538528" cy="82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798962" y="1048573"/>
            <a:ext cx="538528" cy="82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446" b="1">
                <a:solidFill>
                  <a:srgbClr val="000000"/>
                </a:solidFill>
                <a:latin typeface="Arial"/>
              </a:rPr>
              <a:t>One decision rule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75319" y="1171367"/>
            <a:ext cx="94569" cy="88121"/>
          </a:xfrm>
          <a:prstGeom prst="rect">
            <a:avLst/>
          </a:prstGeom>
          <a:solidFill>
            <a:srgbClr val="FFFFFF"/>
          </a:solidFill>
          <a:ln w="635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775319" y="1171367"/>
            <a:ext cx="94569" cy="881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12875" y="1171367"/>
            <a:ext cx="1306773" cy="881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00" b="0">
                <a:solidFill>
                  <a:srgbClr val="000000"/>
                </a:solidFill>
                <a:latin typeface="Arial"/>
              </a:rPr>
              <a:t>C1, C2, C4, C5 all match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45439" y="1171367"/>
            <a:ext cx="447054" cy="88121"/>
          </a:xfrm>
          <a:prstGeom prst="rect">
            <a:avLst/>
          </a:prstGeom>
          <a:solidFill>
            <a:srgbClr val="E2F0D9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45439" y="1171367"/>
            <a:ext cx="447054" cy="881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1">
                <a:solidFill>
                  <a:srgbClr val="000000"/>
                </a:solidFill>
                <a:latin typeface="Arial"/>
              </a:rPr>
              <a:t>survives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75319" y="1283130"/>
            <a:ext cx="94569" cy="88121"/>
          </a:xfrm>
          <a:prstGeom prst="rect">
            <a:avLst/>
          </a:prstGeom>
          <a:solidFill>
            <a:srgbClr val="FFFFFF"/>
          </a:solidFill>
          <a:ln w="635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775319" y="1283130"/>
            <a:ext cx="94569" cy="881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12875" y="1283130"/>
            <a:ext cx="1306773" cy="881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00" b="0">
                <a:solidFill>
                  <a:srgbClr val="000000"/>
                </a:solidFill>
                <a:latin typeface="Arial"/>
              </a:rPr>
              <a:t>a matched operating point exists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45439" y="1283130"/>
            <a:ext cx="447054" cy="88121"/>
          </a:xfrm>
          <a:prstGeom prst="rect">
            <a:avLst/>
          </a:prstGeom>
          <a:solidFill>
            <a:srgbClr val="FFFFFF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45439" y="1283130"/>
            <a:ext cx="447054" cy="881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1">
                <a:solidFill>
                  <a:srgbClr val="000000"/>
                </a:solidFill>
                <a:latin typeface="Arial"/>
              </a:rPr>
              <a:t>narrows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775319" y="1394894"/>
            <a:ext cx="94569" cy="88121"/>
          </a:xfrm>
          <a:prstGeom prst="rect">
            <a:avLst/>
          </a:prstGeom>
          <a:solidFill>
            <a:srgbClr val="FFFFFF"/>
          </a:solidFill>
          <a:ln w="635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775319" y="1394894"/>
            <a:ext cx="94569" cy="881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12875" y="1394894"/>
            <a:ext cx="1306773" cy="881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00" b="0">
                <a:solidFill>
                  <a:srgbClr val="000000"/>
                </a:solidFill>
                <a:latin typeface="Arial"/>
              </a:rPr>
              <a:t>otherwise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45439" y="1394894"/>
            <a:ext cx="447054" cy="88121"/>
          </a:xfrm>
          <a:prstGeom prst="rect">
            <a:avLst/>
          </a:prstGeom>
          <a:solidFill>
            <a:srgbClr val="FBE5D6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45439" y="1394894"/>
            <a:ext cx="447054" cy="881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1">
                <a:solidFill>
                  <a:srgbClr val="000000"/>
                </a:solidFill>
                <a:latin typeface="Arial"/>
              </a:rPr>
              <a:t>undefined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736632" y="1644212"/>
            <a:ext cx="2003145" cy="1891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C3 always differs — that is what a comparison is for — so it is recorded and never decisive.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77332" y="42986"/>
            <a:ext cx="1839798" cy="1779618"/>
          </a:xfrm>
          <a:prstGeom prst="rect">
            <a:avLst/>
          </a:prstGeom>
          <a:noFill/>
          <a:ln w="1397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877332" y="66628"/>
            <a:ext cx="1839798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11" b="1">
                <a:solidFill>
                  <a:srgbClr val="2E75B6"/>
                </a:solidFill>
                <a:latin typeface="Arial"/>
              </a:rPr>
              <a:t>Which Judgment Survives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920318" y="197735"/>
            <a:ext cx="1753827" cy="601803"/>
          </a:xfrm>
          <a:prstGeom prst="rect">
            <a:avLst/>
          </a:prstGeom>
          <a:solidFill>
            <a:srgbClr val="FFFFFF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980498" y="232124"/>
            <a:ext cx="1633466" cy="154749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959005" y="227826"/>
            <a:ext cx="1676452" cy="1547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40" b="1">
                <a:solidFill>
                  <a:srgbClr val="000000"/>
                </a:solidFill>
                <a:latin typeface="Arial"/>
              </a:rPr>
              <a:t>Provenance</a:t>
            </a:r>
            <a:r>
              <a:rPr sz="560" b="0">
                <a:solidFill>
                  <a:srgbClr val="7F7F7F"/>
                </a:solidFill>
                <a:latin typeface="Arial"/>
              </a:rPr>
              <a:t/>
            </a:r>
          </a:p>
          <a:p>
            <a:pPr algn="ctr">
              <a:lnSpc>
                <a:spcPct val="92000"/>
              </a:lnSpc>
            </a:pPr>
            <a:r>
              <a:rPr sz="560" b="0">
                <a:solidFill>
                  <a:srgbClr val="7F7F7F"/>
                </a:solidFill>
                <a:latin typeface="Arial"/>
              </a:rPr>
              <a:t>transported or re-implemented?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76200" y="429859"/>
            <a:ext cx="601803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00" b="0">
                <a:solidFill>
                  <a:srgbClr val="000000"/>
                </a:solidFill>
                <a:latin typeface="Arial"/>
              </a:rPr>
              <a:t>inter-judge κ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95197" y="429859"/>
            <a:ext cx="266513" cy="111763"/>
          </a:xfrm>
          <a:prstGeom prst="rect">
            <a:avLst/>
          </a:prstGeom>
          <a:solidFill>
            <a:srgbClr val="FFFFFF"/>
          </a:solidFill>
          <a:ln w="635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95197" y="429859"/>
            <a:ext cx="266513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80" b="1">
                <a:solidFill>
                  <a:srgbClr val="1D3155"/>
                </a:solidFill>
                <a:latin typeface="Arial"/>
              </a:rPr>
              <a:t>0.55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976200" y="563116"/>
            <a:ext cx="601803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00" b="0">
                <a:solidFill>
                  <a:srgbClr val="000000"/>
                </a:solidFill>
                <a:latin typeface="Arial"/>
              </a:rPr>
              <a:t>vs. reference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95197" y="563116"/>
            <a:ext cx="266513" cy="111763"/>
          </a:xfrm>
          <a:prstGeom prst="rect">
            <a:avLst/>
          </a:prstGeom>
          <a:solidFill>
            <a:srgbClr val="FFFFFF"/>
          </a:solidFill>
          <a:ln w="635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95197" y="563116"/>
            <a:ext cx="266513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80" b="1">
                <a:solidFill>
                  <a:srgbClr val="1D3155"/>
                </a:solidFill>
                <a:latin typeface="Arial"/>
              </a:rPr>
              <a:t>0.906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87502" y="563116"/>
            <a:ext cx="739358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540" b="0">
                <a:solidFill>
                  <a:srgbClr val="7F7F7F"/>
                </a:solidFill>
                <a:latin typeface="Arial"/>
              </a:rPr>
              <a:t>baseline 0.794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980498" y="679178"/>
            <a:ext cx="1633466" cy="94569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959005" y="679178"/>
            <a:ext cx="1676452" cy="94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80" b="1">
                <a:solidFill>
                  <a:srgbClr val="1D3155"/>
                </a:solidFill>
                <a:latin typeface="Arial"/>
              </a:rPr>
              <a:t>recovered — and validated on real windows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920318" y="894108"/>
            <a:ext cx="1753827" cy="601803"/>
          </a:xfrm>
          <a:prstGeom prst="rect">
            <a:avLst/>
          </a:prstGeom>
          <a:solidFill>
            <a:srgbClr val="FFFFFF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980498" y="928496"/>
            <a:ext cx="1633466" cy="154749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959005" y="924198"/>
            <a:ext cx="1676452" cy="1547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740" b="1">
                <a:solidFill>
                  <a:srgbClr val="000000"/>
                </a:solidFill>
                <a:latin typeface="Arial"/>
              </a:rPr>
              <a:t>Verdict</a:t>
            </a:r>
            <a:r>
              <a:rPr sz="560" b="0">
                <a:solidFill>
                  <a:srgbClr val="7F7F7F"/>
                </a:solidFill>
                <a:latin typeface="Arial"/>
              </a:rPr>
              <a:t/>
            </a:r>
          </a:p>
          <a:p>
            <a:pPr algn="ctr">
              <a:lnSpc>
                <a:spcPct val="92000"/>
              </a:lnSpc>
            </a:pPr>
            <a:r>
              <a:rPr sz="560" b="0">
                <a:solidFill>
                  <a:srgbClr val="7F7F7F"/>
                </a:solidFill>
                <a:latin typeface="Arial"/>
              </a:rPr>
              <a:t>does the quoted gap survive?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76200" y="1126232"/>
            <a:ext cx="601803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00" b="0">
                <a:solidFill>
                  <a:srgbClr val="000000"/>
                </a:solidFill>
                <a:latin typeface="Arial"/>
              </a:rPr>
              <a:t>inter-judge κ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95197" y="1126232"/>
            <a:ext cx="266513" cy="111763"/>
          </a:xfrm>
          <a:prstGeom prst="rect">
            <a:avLst/>
          </a:prstGeom>
          <a:solidFill>
            <a:srgbClr val="FFFFFF"/>
          </a:solidFill>
          <a:ln w="635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595197" y="1126232"/>
            <a:ext cx="266513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80" b="1">
                <a:solidFill>
                  <a:srgbClr val="C00000"/>
                </a:solidFill>
                <a:latin typeface="Arial"/>
              </a:rPr>
              <a:t>0.06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87502" y="1126232"/>
            <a:ext cx="739358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540" b="0">
                <a:solidFill>
                  <a:srgbClr val="7F7F7F"/>
                </a:solidFill>
                <a:latin typeface="Arial"/>
              </a:rPr>
              <a:t>ceiling 0.46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76200" y="1259488"/>
            <a:ext cx="601803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00" b="0">
                <a:solidFill>
                  <a:srgbClr val="000000"/>
                </a:solidFill>
                <a:latin typeface="Arial"/>
              </a:rPr>
              <a:t>vs. reference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95197" y="1259488"/>
            <a:ext cx="266513" cy="111763"/>
          </a:xfrm>
          <a:prstGeom prst="rect">
            <a:avLst/>
          </a:prstGeom>
          <a:solidFill>
            <a:srgbClr val="FFFFFF"/>
          </a:solidFill>
          <a:ln w="635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595197" y="1259488"/>
            <a:ext cx="266513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80" b="1">
                <a:solidFill>
                  <a:srgbClr val="C00000"/>
                </a:solidFill>
                <a:latin typeface="Arial"/>
              </a:rPr>
              <a:t>0.816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87502" y="1259488"/>
            <a:ext cx="739358" cy="1117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540" b="0">
                <a:solidFill>
                  <a:srgbClr val="7F7F7F"/>
                </a:solidFill>
                <a:latin typeface="Arial"/>
              </a:rPr>
              <a:t>baseline 0.772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980498" y="1375550"/>
            <a:ext cx="1633466" cy="94569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959005" y="1375550"/>
            <a:ext cx="1676452" cy="945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80" b="1">
                <a:solidFill>
                  <a:srgbClr val="C00000"/>
                </a:solidFill>
                <a:latin typeface="Arial"/>
              </a:rPr>
              <a:t>not recovered — barely beats a constant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963304" y="1590480"/>
            <a:ext cx="1667855" cy="214930"/>
          </a:xfrm>
          <a:prstGeom prst="rect">
            <a:avLst/>
          </a:prstGeom>
          <a:solidFill>
            <a:srgbClr val="FFFFFF"/>
          </a:solidFill>
          <a:ln w="1016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980498" y="1590480"/>
            <a:ext cx="1633466" cy="2149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80" b="1">
                <a:solidFill>
                  <a:srgbClr val="1D3155"/>
                </a:solidFill>
                <a:latin typeface="Arial"/>
              </a:rPr>
              <a:t>An automated screen can read a comparison.</a:t>
            </a:r>
          </a:p>
          <a:p>
            <a:pPr algn="ctr">
              <a:lnSpc>
                <a:spcPct val="95000"/>
              </a:lnSpc>
            </a:pPr>
            <a:r>
              <a:rPr sz="580" b="1">
                <a:solidFill>
                  <a:srgbClr val="1D3155"/>
                </a:solidFill>
                <a:latin typeface="Arial"/>
              </a:rPr>
              <a:t>It cannot adjudicate one.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599077" y="725985"/>
            <a:ext cx="94569" cy="95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Isosceles Triangle 102"/>
          <p:cNvSpPr/>
          <p:nvPr/>
        </p:nvSpPr>
        <p:spPr>
          <a:xfrm rot="5400000">
            <a:off x="1657108" y="712492"/>
            <a:ext cx="36538" cy="36538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782763" y="725985"/>
            <a:ext cx="94569" cy="95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Isosceles Triangle 104"/>
          <p:cNvSpPr/>
          <p:nvPr/>
        </p:nvSpPr>
        <p:spPr>
          <a:xfrm rot="5400000">
            <a:off x="3840794" y="712492"/>
            <a:ext cx="36538" cy="36538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