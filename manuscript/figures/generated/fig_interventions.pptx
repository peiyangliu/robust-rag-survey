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70742" cy="14072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457" y="36457"/>
            <a:ext cx="2697827" cy="1334331"/>
          </a:xfrm>
          <a:prstGeom prst="rect">
            <a:avLst/>
          </a:prstGeom>
          <a:noFill/>
          <a:ln w="1397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457" y="56509"/>
            <a:ext cx="2697827" cy="94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18" b="1">
                <a:solidFill>
                  <a:srgbClr val="2E75B6"/>
                </a:solidFill>
                <a:latin typeface="Arial"/>
              </a:rPr>
              <a:t>Four Interventions on the Same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80183" y="1018977"/>
            <a:ext cx="1378079" cy="4375"/>
          </a:xfrm>
          <a:prstGeom prst="rect">
            <a:avLst/>
          </a:prstGeom>
          <a:solidFill>
            <a:srgbClr val="DBD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995" y="1018977"/>
            <a:ext cx="4375" cy="20051"/>
          </a:xfrm>
          <a:prstGeom prst="rect">
            <a:avLst/>
          </a:prstGeom>
          <a:solidFill>
            <a:srgbClr val="DBD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7268" y="1040851"/>
            <a:ext cx="145829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409" b="0">
                <a:solidFill>
                  <a:srgbClr val="7F7F7F"/>
                </a:solidFill>
                <a:latin typeface="Arial"/>
              </a:rPr>
              <a:t>0.0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2515" y="1018977"/>
            <a:ext cx="4375" cy="20051"/>
          </a:xfrm>
          <a:prstGeom prst="rect">
            <a:avLst/>
          </a:prstGeom>
          <a:solidFill>
            <a:srgbClr val="DBD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788" y="1040851"/>
            <a:ext cx="145829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409" b="0">
                <a:solidFill>
                  <a:srgbClr val="7F7F7F"/>
                </a:solidFill>
                <a:latin typeface="Arial"/>
              </a:rPr>
              <a:t>0.2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7035" y="1018977"/>
            <a:ext cx="4375" cy="20051"/>
          </a:xfrm>
          <a:prstGeom prst="rect">
            <a:avLst/>
          </a:prstGeom>
          <a:solidFill>
            <a:srgbClr val="DBD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6308" y="1040851"/>
            <a:ext cx="145829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409" b="0">
                <a:solidFill>
                  <a:srgbClr val="7F7F7F"/>
                </a:solidFill>
                <a:latin typeface="Arial"/>
              </a:rPr>
              <a:t>0.4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1555" y="1018977"/>
            <a:ext cx="4375" cy="20051"/>
          </a:xfrm>
          <a:prstGeom prst="rect">
            <a:avLst/>
          </a:prstGeom>
          <a:solidFill>
            <a:srgbClr val="DBD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0828" y="1040851"/>
            <a:ext cx="145829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409" b="0">
                <a:solidFill>
                  <a:srgbClr val="7F7F7F"/>
                </a:solidFill>
                <a:latin typeface="Arial"/>
              </a:rPr>
              <a:t>0.6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56075" y="1018977"/>
            <a:ext cx="4375" cy="20051"/>
          </a:xfrm>
          <a:prstGeom prst="rect">
            <a:avLst/>
          </a:prstGeom>
          <a:solidFill>
            <a:srgbClr val="DBD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5348" y="1040851"/>
            <a:ext cx="145829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409" b="0">
                <a:solidFill>
                  <a:srgbClr val="7F7F7F"/>
                </a:solidFill>
                <a:latin typeface="Arial"/>
              </a:rP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14" y="1039028"/>
            <a:ext cx="546857" cy="61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30" b="1">
                <a:solidFill>
                  <a:srgbClr val="1D3155"/>
                </a:solidFill>
                <a:latin typeface="Arial"/>
              </a:rPr>
              <a:t>inter-judge Fleiss' 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6214" y="262491"/>
            <a:ext cx="7291" cy="763777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1974" y="167703"/>
            <a:ext cx="926011" cy="947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409" b="1">
                <a:solidFill>
                  <a:srgbClr val="1D3155"/>
                </a:solidFill>
                <a:latin typeface="Arial"/>
              </a:rPr>
              <a:t>prose that states its coordinates: κ 0.74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14" y="282543"/>
            <a:ext cx="678103" cy="123954"/>
          </a:xfrm>
          <a:prstGeom prst="rect">
            <a:avLst/>
          </a:prstGeom>
          <a:solidFill>
            <a:srgbClr val="EDE8E7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89" y="289834"/>
            <a:ext cx="634354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50" b="1">
                <a:solidFill>
                  <a:srgbClr val="1D3155"/>
                </a:solidFill>
                <a:latin typeface="Arial"/>
              </a:rPr>
              <a:t>Baseline: the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89" y="351811"/>
            <a:ext cx="634354" cy="61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380" b="0">
                <a:solidFill>
                  <a:srgbClr val="7F7F7F"/>
                </a:solidFill>
                <a:latin typeface="Arial"/>
              </a:rPr>
              <a:t>±45 lines, as deployed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0183" y="319000"/>
            <a:ext cx="95443" cy="49217"/>
          </a:xfrm>
          <a:prstGeom prst="rect">
            <a:avLst/>
          </a:prstGeom>
          <a:solidFill>
            <a:srgbClr val="EDE8E7"/>
          </a:solidFill>
          <a:ln w="762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0208" y="309886"/>
            <a:ext cx="167703" cy="674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90" b="1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14" y="426548"/>
            <a:ext cx="678103" cy="12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789" y="433840"/>
            <a:ext cx="634354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50" b="1">
                <a:solidFill>
                  <a:srgbClr val="1D3155"/>
                </a:solidFill>
                <a:latin typeface="Arial"/>
              </a:rPr>
              <a:t>Intervention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89" y="495817"/>
            <a:ext cx="634354" cy="61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380" b="0">
                <a:solidFill>
                  <a:srgbClr val="7F7F7F"/>
                </a:solidFill>
                <a:latin typeface="Arial"/>
              </a:rPr>
              <a:t>read the entire citing paper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183" y="463006"/>
            <a:ext cx="501167" cy="49217"/>
          </a:xfrm>
          <a:prstGeom prst="rect">
            <a:avLst/>
          </a:prstGeom>
          <a:solidFill>
            <a:srgbClr val="DEEBF7"/>
          </a:solidFill>
          <a:ln w="762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5932" y="453891"/>
            <a:ext cx="167703" cy="674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90" b="1">
                <a:solidFill>
                  <a:srgbClr val="1D3155"/>
                </a:solidFill>
                <a:latin typeface="Arial"/>
              </a:rPr>
              <a:t>0.29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80136" y="432017"/>
            <a:ext cx="218743" cy="111194"/>
          </a:xfrm>
          <a:prstGeom prst="rect">
            <a:avLst/>
          </a:prstGeom>
          <a:solidFill>
            <a:srgbClr val="E2F0D9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80136" y="432017"/>
            <a:ext cx="218743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40" b="1">
                <a:solidFill>
                  <a:srgbClr val="1D3155"/>
                </a:solidFill>
                <a:latin typeface="Arial"/>
              </a:rPr>
              <a:t>+0.20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09816" y="432017"/>
            <a:ext cx="291657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360" b="0">
                <a:solidFill>
                  <a:srgbClr val="7F7F7F"/>
                </a:solidFill>
                <a:latin typeface="Arial"/>
              </a:rPr>
              <a:t>[+0.09, +0.36]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914" y="570554"/>
            <a:ext cx="678103" cy="12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89" y="577845"/>
            <a:ext cx="634354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50" b="1">
                <a:solidFill>
                  <a:srgbClr val="1D3155"/>
                </a:solidFill>
                <a:latin typeface="Arial"/>
              </a:rPr>
              <a:t>Intervention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89" y="639823"/>
            <a:ext cx="634354" cy="61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380" b="0">
                <a:solidFill>
                  <a:srgbClr val="7F7F7F"/>
                </a:solidFill>
                <a:latin typeface="Arial"/>
              </a:rPr>
              <a:t>add a “does not say” verdict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83" y="607011"/>
            <a:ext cx="110108" cy="49217"/>
          </a:xfrm>
          <a:prstGeom prst="rect">
            <a:avLst/>
          </a:prstGeom>
          <a:solidFill>
            <a:srgbClr val="FBE5D6"/>
          </a:solidFill>
          <a:ln w="762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873" y="597897"/>
            <a:ext cx="167703" cy="674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90" b="1">
                <a:solidFill>
                  <a:srgbClr val="000000"/>
                </a:solidFill>
                <a:latin typeface="Arial"/>
              </a:rPr>
              <a:t>0.06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80136" y="576023"/>
            <a:ext cx="218743" cy="111194"/>
          </a:xfrm>
          <a:prstGeom prst="rect">
            <a:avLst/>
          </a:prstGeom>
          <a:solidFill>
            <a:srgbClr val="FFFFFF"/>
          </a:solidFill>
          <a:ln w="889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80136" y="576023"/>
            <a:ext cx="218743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40" b="1">
                <a:solidFill>
                  <a:srgbClr val="7F7F7F"/>
                </a:solidFill>
                <a:latin typeface="Arial"/>
              </a:rPr>
              <a:t>+0.01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09816" y="576023"/>
            <a:ext cx="291657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360" b="0">
                <a:solidFill>
                  <a:srgbClr val="7F7F7F"/>
                </a:solidFill>
                <a:latin typeface="Arial"/>
              </a:rPr>
              <a:t>[-0.07, +0.11]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914" y="714560"/>
            <a:ext cx="678103" cy="12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789" y="721851"/>
            <a:ext cx="634354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50" b="1">
                <a:solidFill>
                  <a:srgbClr val="1D3155"/>
                </a:solidFill>
                <a:latin typeface="Arial"/>
              </a:rPr>
              <a:t>Intervention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89" y="783828"/>
            <a:ext cx="634354" cy="61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380" b="0">
                <a:solidFill>
                  <a:srgbClr val="7F7F7F"/>
                </a:solidFill>
                <a:latin typeface="Arial"/>
              </a:rPr>
              <a:t>compose the rule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183" y="751017"/>
            <a:ext cx="147582" cy="49217"/>
          </a:xfrm>
          <a:prstGeom prst="rect">
            <a:avLst/>
          </a:prstGeom>
          <a:solidFill>
            <a:srgbClr val="FBE5D6"/>
          </a:solidFill>
          <a:ln w="762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347" y="741903"/>
            <a:ext cx="167703" cy="674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90" b="1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80136" y="720028"/>
            <a:ext cx="218743" cy="111194"/>
          </a:xfrm>
          <a:prstGeom prst="rect">
            <a:avLst/>
          </a:prstGeom>
          <a:solidFill>
            <a:srgbClr val="FFFFFF"/>
          </a:solidFill>
          <a:ln w="889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80136" y="720028"/>
            <a:ext cx="218743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40" b="1">
                <a:solidFill>
                  <a:srgbClr val="7F7F7F"/>
                </a:solidFill>
                <a:latin typeface="Arial"/>
              </a:rPr>
              <a:t>+0.02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09816" y="720028"/>
            <a:ext cx="291657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360" b="0">
                <a:solidFill>
                  <a:srgbClr val="7F7F7F"/>
                </a:solidFill>
                <a:latin typeface="Arial"/>
              </a:rPr>
              <a:t>[+0.00, +0.05]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914" y="858565"/>
            <a:ext cx="678103" cy="123954"/>
          </a:xfrm>
          <a:prstGeom prst="rect">
            <a:avLst/>
          </a:prstGeom>
          <a:solidFill>
            <a:srgbClr val="FFFFFF"/>
          </a:solidFill>
          <a:ln w="7620">
            <a:solidFill>
              <a:srgbClr val="DBD1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789" y="865857"/>
            <a:ext cx="634354" cy="58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50" b="1">
                <a:solidFill>
                  <a:srgbClr val="1D3155"/>
                </a:solidFill>
                <a:latin typeface="Arial"/>
              </a:rPr>
              <a:t>Intervention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89" y="927834"/>
            <a:ext cx="634354" cy="61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380" b="0">
                <a:solidFill>
                  <a:srgbClr val="7F7F7F"/>
                </a:solidFill>
                <a:latin typeface="Arial"/>
              </a:rPr>
              <a:t>9 open-weight checkpoints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0183" y="895022"/>
            <a:ext cx="157850" cy="49217"/>
          </a:xfrm>
          <a:prstGeom prst="rect">
            <a:avLst/>
          </a:prstGeom>
          <a:solidFill>
            <a:srgbClr val="FBE5D6"/>
          </a:solidFill>
          <a:ln w="762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2616" y="885908"/>
            <a:ext cx="167703" cy="674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90" b="1">
                <a:solidFill>
                  <a:srgbClr val="000000"/>
                </a:solidFill>
                <a:latin typeface="Arial"/>
              </a:rPr>
              <a:t>0.09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80136" y="864034"/>
            <a:ext cx="510400" cy="1111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50" b="0">
                <a:solidFill>
                  <a:srgbClr val="7F7F7F"/>
                </a:solidFill>
                <a:latin typeface="Arial"/>
              </a:rPr>
              <a:t>no change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14" y="1106474"/>
            <a:ext cx="2624913" cy="123954"/>
          </a:xfrm>
          <a:prstGeom prst="rect">
            <a:avLst/>
          </a:prstGeom>
          <a:solidFill>
            <a:srgbClr val="EFEBD8"/>
          </a:solidFill>
          <a:ln w="1143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371" y="1106474"/>
            <a:ext cx="2551999" cy="1239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20" b="1">
                <a:solidFill>
                  <a:srgbClr val="1D3155"/>
                </a:solidFill>
                <a:latin typeface="Arial"/>
              </a:rPr>
              <a:t>Only evidence moves it, and not far enough. </a:t>
            </a:r>
            <a:r>
              <a:rPr sz="420" b="0">
                <a:solidFill>
                  <a:srgbClr val="000000"/>
                </a:solidFill>
                <a:latin typeface="Arial"/>
              </a:rPr>
              <a:t>The residue is the distance to prose that states its coordinates.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